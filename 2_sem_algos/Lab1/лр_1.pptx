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6"/>
  </p:notesMasterIdLst>
  <p:sldIdLst>
    <p:sldId id="258" r:id="rId2"/>
    <p:sldId id="261" r:id="rId3"/>
    <p:sldId id="262" r:id="rId4"/>
    <p:sldId id="263" r:id="rId5"/>
  </p:sldIdLst>
  <p:sldSz cx="12192000" cy="6858000"/>
  <p:notesSz cx="6858000" cy="9144000"/>
  <p:embeddedFontLst>
    <p:embeddedFont>
      <p:font typeface="Montserrat" pitchFamily="2" charset="0"/>
      <p:regular r:id="rId7"/>
      <p:bold r:id="rId8"/>
      <p:italic r:id="rId9"/>
      <p:boldItalic r:id="rId1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EE"/>
    <a:srgbClr val="E46C2A"/>
    <a:srgbClr val="FF7300"/>
    <a:srgbClr val="0055BB"/>
    <a:srgbClr val="0061AF"/>
    <a:srgbClr val="8F9092"/>
    <a:srgbClr val="DDDEDE"/>
    <a:srgbClr val="22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744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6371-251F-4ED8-9B56-EDA7AD5BC192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1231-4811-4266-96DE-A5316DE68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24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B1231-4811-4266-96DE-A5316DE68A6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57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>
          <a:xfrm>
            <a:off x="5340011" y="6291675"/>
            <a:ext cx="1649811" cy="36933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2026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727364" y="2924814"/>
            <a:ext cx="10737272" cy="769441"/>
          </a:xfrm>
        </p:spPr>
        <p:txBody>
          <a:bodyPr/>
          <a:lstStyle/>
          <a:p>
            <a:pPr algn="ctr"/>
            <a:r>
              <a:rPr lang="ru-RU" sz="4400" dirty="0"/>
              <a:t>Лабораторная работа 1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336" y="681629"/>
            <a:ext cx="1904264" cy="140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84CBB-0DCC-4620-A4B0-8447C78414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3416320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Напишите программу, которая принимает строку от пользователя, разбивает её на слова и выполняет следующие действия:</a:t>
            </a:r>
          </a:p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Выводит общее количество слов в строке.</a:t>
            </a:r>
          </a:p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Выводит список слов в алфавитном порядке.</a:t>
            </a:r>
          </a:p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Создаёт новый список, содержащий только уникальные слова (без повторений).</a:t>
            </a:r>
          </a:p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Выводит каждое слово и количество его повторений в исходной строке.</a:t>
            </a:r>
          </a:p>
          <a:p>
            <a:pPr algn="just">
              <a:spcAft>
                <a:spcPts val="0"/>
              </a:spcAft>
            </a:pPr>
            <a:endParaRPr lang="ru-RU" sz="2400" b="0" i="0" dirty="0">
              <a:effectLst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7776728-0A08-86F0-3F34-8F6130173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784958"/>
              </p:ext>
            </p:extLst>
          </p:nvPr>
        </p:nvGraphicFramePr>
        <p:xfrm>
          <a:off x="1908452" y="3998901"/>
          <a:ext cx="8128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793982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88013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rgbClr val="222A3F"/>
                          </a:solidFill>
                          <a:effectLst/>
                          <a:latin typeface="Montserrat" panose="00000500000000000000" pitchFamily="2" charset="-52"/>
                          <a:ea typeface="+mn-ea"/>
                          <a:cs typeface="+mn-cs"/>
                        </a:rPr>
                        <a:t>Пример ввода: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  <a:latin typeface="Montserrat" panose="00000500000000000000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rgbClr val="222A3F"/>
                          </a:solidFill>
                          <a:effectLst/>
                          <a:latin typeface="Montserrat" panose="00000500000000000000" pitchFamily="2" charset="-52"/>
                          <a:ea typeface="+mn-ea"/>
                          <a:cs typeface="+mn-cs"/>
                        </a:rPr>
                        <a:t>Пример вывода:</a:t>
                      </a:r>
                    </a:p>
                    <a:p>
                      <a:endParaRPr lang="ru-RU" sz="2400" b="0" i="0" kern="1200" dirty="0">
                        <a:solidFill>
                          <a:srgbClr val="222A3F"/>
                        </a:solidFill>
                        <a:effectLst/>
                        <a:latin typeface="Montserrat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755968"/>
                  </a:ext>
                </a:extLst>
              </a:tr>
            </a:tbl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E4F4DD3-3EE3-7EE8-3F8D-9893CC561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96" y="4821861"/>
            <a:ext cx="4847221" cy="43821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1D47CE0-9601-49C1-767B-E5426ED9C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452" y="4725478"/>
            <a:ext cx="5563376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3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E13D2-27F7-E77D-0BF6-F8E23FA81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5CAA0-5AF4-7014-A6D1-A5C92A54F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D96895-A632-C1CE-C80D-F4A593A13F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3170099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Напишите функцию </a:t>
            </a:r>
            <a:r>
              <a:rPr lang="ru-RU" sz="2000" b="0" i="0" dirty="0" err="1">
                <a:effectLst/>
              </a:rPr>
              <a:t>analyze_numbers</a:t>
            </a:r>
            <a:r>
              <a:rPr lang="ru-RU" sz="2000" b="0" i="0" dirty="0">
                <a:effectLst/>
              </a:rPr>
              <a:t>(</a:t>
            </a:r>
            <a:r>
              <a:rPr lang="ru-RU" sz="2000" b="0" i="0" dirty="0" err="1">
                <a:effectLst/>
              </a:rPr>
              <a:t>numbers</a:t>
            </a:r>
            <a:r>
              <a:rPr lang="ru-RU" sz="2000" b="0" i="0" dirty="0">
                <a:effectLst/>
              </a:rPr>
              <a:t>), которая принимает список чисел и возвращает словарь с результатами анализа: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Максимальное число.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Минимальное число.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Среднее арифметическое (округлить до двух знаков после запятой).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Количество чётных и нечётных чисел.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Напишите программу, которая: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Принимает от пользователя последовательность чисел через пробел.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Преобразует её в список чисел.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Вызывает функцию </a:t>
            </a:r>
            <a:r>
              <a:rPr lang="ru-RU" sz="2000" b="0" i="0" dirty="0" err="1">
                <a:effectLst/>
              </a:rPr>
              <a:t>analyze_numbers</a:t>
            </a:r>
            <a:r>
              <a:rPr lang="ru-RU" sz="2000" b="0" i="0" dirty="0">
                <a:effectLst/>
              </a:rPr>
              <a:t> и выводит результаты.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FC8D5D8-FD65-D4E9-B89B-C601D1AB6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357458"/>
              </p:ext>
            </p:extLst>
          </p:nvPr>
        </p:nvGraphicFramePr>
        <p:xfrm>
          <a:off x="2032000" y="4288096"/>
          <a:ext cx="8128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793982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88013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rgbClr val="222A3F"/>
                          </a:solidFill>
                          <a:effectLst/>
                          <a:latin typeface="Montserrat" panose="00000500000000000000" pitchFamily="2" charset="-52"/>
                          <a:ea typeface="+mn-ea"/>
                          <a:cs typeface="+mn-cs"/>
                        </a:rPr>
                        <a:t>Пример ввода: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  <a:latin typeface="Montserrat" panose="00000500000000000000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rgbClr val="222A3F"/>
                          </a:solidFill>
                          <a:effectLst/>
                          <a:latin typeface="Montserrat" panose="00000500000000000000" pitchFamily="2" charset="-52"/>
                          <a:ea typeface="+mn-ea"/>
                          <a:cs typeface="+mn-cs"/>
                        </a:rPr>
                        <a:t>Пример вывода:</a:t>
                      </a:r>
                    </a:p>
                    <a:p>
                      <a:endParaRPr lang="ru-RU" sz="2400" b="0" i="0" kern="1200" dirty="0">
                        <a:solidFill>
                          <a:srgbClr val="222A3F"/>
                        </a:solidFill>
                        <a:effectLst/>
                        <a:latin typeface="Montserrat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755968"/>
                  </a:ext>
                </a:extLst>
              </a:tr>
            </a:tbl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140945F-DCA7-6B6F-7E98-6F99DDA35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295" y="5045186"/>
            <a:ext cx="3124636" cy="145752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6EFE72D-01F1-C3F4-F3AF-48B6172DB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54" y="5346733"/>
            <a:ext cx="4039164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4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5DCA-B2D8-E3AC-A144-FF477E05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F5D1B-7909-A370-6326-ACDD0926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37950D-113A-E50D-A17B-C32F143A1B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1938992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Напишите программу, которая: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Принимает от пользователя два числа a и b, где </a:t>
            </a:r>
            <a:r>
              <a:rPr lang="ru-RU" sz="2000" b="0" i="0" dirty="0" err="1">
                <a:effectLst/>
              </a:rPr>
              <a:t>a≤b</a:t>
            </a:r>
            <a:r>
              <a:rPr lang="ru-RU" sz="2000" b="0" i="0" dirty="0">
                <a:effectLst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Находит все простые числа в диапазоне [</a:t>
            </a:r>
            <a:r>
              <a:rPr lang="ru-RU" sz="2000" b="0" i="0" dirty="0" err="1">
                <a:effectLst/>
              </a:rPr>
              <a:t>a,b</a:t>
            </a:r>
            <a:r>
              <a:rPr lang="ru-RU" sz="2000" b="0" i="0" dirty="0">
                <a:effectLst/>
              </a:rPr>
              <a:t>].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Выводит список найденных простых чисел и их количество.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(Простое число — это число больше 1, которое делится только на 1 и само на себя.)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EF9897C-3741-29BF-88D8-8CA7ED1D0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548366"/>
              </p:ext>
            </p:extLst>
          </p:nvPr>
        </p:nvGraphicFramePr>
        <p:xfrm>
          <a:off x="2032000" y="2959516"/>
          <a:ext cx="8128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793982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88013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rgbClr val="222A3F"/>
                          </a:solidFill>
                          <a:effectLst/>
                          <a:latin typeface="Montserrat" panose="00000500000000000000" pitchFamily="2" charset="-52"/>
                          <a:ea typeface="+mn-ea"/>
                          <a:cs typeface="+mn-cs"/>
                        </a:rPr>
                        <a:t>Пример ввода: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  <a:latin typeface="Montserrat" panose="00000500000000000000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rgbClr val="222A3F"/>
                          </a:solidFill>
                          <a:effectLst/>
                          <a:latin typeface="Montserrat" panose="00000500000000000000" pitchFamily="2" charset="-52"/>
                          <a:ea typeface="+mn-ea"/>
                          <a:cs typeface="+mn-cs"/>
                        </a:rPr>
                        <a:t>Пример вывода:</a:t>
                      </a:r>
                    </a:p>
                    <a:p>
                      <a:endParaRPr lang="ru-RU" sz="2400" b="0" i="0" kern="1200" dirty="0">
                        <a:solidFill>
                          <a:srgbClr val="222A3F"/>
                        </a:solidFill>
                        <a:effectLst/>
                        <a:latin typeface="Montserrat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755968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8A49EF-D514-E556-1914-6BB76A30E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32725"/>
            <a:ext cx="2267266" cy="5811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AAA398-AE49-9E03-D40B-817CC2656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961" y="3827962"/>
            <a:ext cx="5630061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2603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2053</TotalTime>
  <Words>211</Words>
  <Application>Microsoft Macintosh PowerPoint</Application>
  <PresentationFormat>Широкоэкранный</PresentationFormat>
  <Paragraphs>31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Montserrat</vt:lpstr>
      <vt:lpstr>Arial</vt:lpstr>
      <vt:lpstr>Calibri</vt:lpstr>
      <vt:lpstr>Шаблон МИФИ</vt:lpstr>
      <vt:lpstr>Презентация PowerPoint</vt:lpstr>
      <vt:lpstr>Задача 1</vt:lpstr>
      <vt:lpstr>Задача 2</vt:lpstr>
      <vt:lpstr>Задача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Microsoft Office User</cp:lastModifiedBy>
  <cp:revision>61</cp:revision>
  <dcterms:created xsi:type="dcterms:W3CDTF">2020-05-28T16:18:16Z</dcterms:created>
  <dcterms:modified xsi:type="dcterms:W3CDTF">2026-02-11T15:00:18Z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