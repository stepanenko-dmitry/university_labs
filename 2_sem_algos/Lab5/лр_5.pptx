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4"/>
  </p:notesMasterIdLst>
  <p:sldIdLst>
    <p:sldId id="258" r:id="rId2"/>
    <p:sldId id="261" r:id="rId3"/>
  </p:sldIdLst>
  <p:sldSz cx="12192000" cy="6858000"/>
  <p:notesSz cx="6858000" cy="9144000"/>
  <p:embeddedFontLst>
    <p:embeddedFont>
      <p:font typeface="Montserrat" pitchFamily="2" charset="0"/>
      <p:regular r:id="rId5"/>
      <p:bold r:id="rId6"/>
      <p:italic r:id="rId7"/>
      <p:boldItalic r:id="rId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EE"/>
    <a:srgbClr val="E46C2A"/>
    <a:srgbClr val="FF7300"/>
    <a:srgbClr val="0055BB"/>
    <a:srgbClr val="0061AF"/>
    <a:srgbClr val="8F9092"/>
    <a:srgbClr val="DDDEDE"/>
    <a:srgbClr val="22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744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6371-251F-4ED8-9B56-EDA7AD5BC192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1231-4811-4266-96DE-A5316DE68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24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B1231-4811-4266-96DE-A5316DE68A6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70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B1231-4811-4266-96DE-A5316DE68A6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22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340011" y="6291675"/>
            <a:ext cx="1649811" cy="36933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202</a:t>
            </a:r>
            <a:r>
              <a:rPr lang="en-US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27364" y="2924814"/>
            <a:ext cx="10737272" cy="769441"/>
          </a:xfrm>
        </p:spPr>
        <p:txBody>
          <a:bodyPr/>
          <a:lstStyle/>
          <a:p>
            <a:pPr algn="ctr"/>
            <a:r>
              <a:rPr lang="ru-RU" sz="4400" dirty="0"/>
              <a:t>Лабораторная работа 5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36" y="681629"/>
            <a:ext cx="1904264" cy="14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84CBB-0DCC-4620-A4B0-8447C78414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882321"/>
            <a:ext cx="10976256" cy="6001643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400" b="0" i="0">
                <a:effectLst/>
              </a:rPr>
              <a:t>Реализация хэш-таблицы.</a:t>
            </a:r>
            <a:endParaRPr lang="ru-RU" sz="2400" b="0" i="0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Реализуйте класс </a:t>
            </a:r>
            <a:r>
              <a:rPr lang="ru-RU" sz="2400" b="0" i="0" dirty="0" err="1">
                <a:effectLst/>
              </a:rPr>
              <a:t>HashTable</a:t>
            </a:r>
            <a:r>
              <a:rPr lang="ru-RU" sz="2400" b="0" i="0" dirty="0">
                <a:effectLst/>
              </a:rPr>
              <a:t>. Класс должен поддерживать следующие операции:</a:t>
            </a:r>
          </a:p>
          <a:p>
            <a:pPr marL="342900" indent="-34290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Инициализация таблицы заданного размера</a:t>
            </a:r>
          </a:p>
          <a:p>
            <a:pPr marL="342900" indent="-34290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Вставка пары ключ-значение</a:t>
            </a:r>
          </a:p>
          <a:p>
            <a:pPr marL="342900" indent="-34290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Получение значения по ключу</a:t>
            </a:r>
          </a:p>
          <a:p>
            <a:pPr marL="342900" indent="-34290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Удаление пары по ключу</a:t>
            </a:r>
          </a:p>
          <a:p>
            <a:pPr marL="342900" indent="-34290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Вычисление коэффициента заполнения таблицы</a:t>
            </a:r>
          </a:p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Используйте простую хэш-функцию*: h(</a:t>
            </a:r>
            <a:r>
              <a:rPr lang="ru-RU" sz="2400" b="0" i="0" dirty="0" err="1">
                <a:effectLst/>
              </a:rPr>
              <a:t>key</a:t>
            </a:r>
            <a:r>
              <a:rPr lang="ru-RU" sz="2400" b="0" i="0" dirty="0">
                <a:effectLst/>
              </a:rPr>
              <a:t>) = </a:t>
            </a:r>
            <a:r>
              <a:rPr lang="ru-RU" sz="2400" b="0" i="0" dirty="0" err="1">
                <a:effectLst/>
              </a:rPr>
              <a:t>sum</a:t>
            </a:r>
            <a:r>
              <a:rPr lang="ru-RU" sz="2400" b="0" i="0" dirty="0">
                <a:effectLst/>
              </a:rPr>
              <a:t>(</a:t>
            </a:r>
            <a:r>
              <a:rPr lang="ru-RU" sz="2400" b="0" i="0" dirty="0" err="1">
                <a:effectLst/>
              </a:rPr>
              <a:t>ord</a:t>
            </a:r>
            <a:r>
              <a:rPr lang="ru-RU" sz="2400" b="0" i="0" dirty="0">
                <a:effectLst/>
              </a:rPr>
              <a:t>(c) </a:t>
            </a:r>
            <a:r>
              <a:rPr lang="ru-RU" sz="2400" b="0" i="0" dirty="0" err="1">
                <a:effectLst/>
              </a:rPr>
              <a:t>for</a:t>
            </a:r>
            <a:r>
              <a:rPr lang="ru-RU" sz="2400" b="0" i="0" dirty="0">
                <a:effectLst/>
              </a:rPr>
              <a:t> c </a:t>
            </a:r>
            <a:r>
              <a:rPr lang="ru-RU" sz="2400" b="0" i="0" dirty="0" err="1">
                <a:effectLst/>
              </a:rPr>
              <a:t>in</a:t>
            </a:r>
            <a:r>
              <a:rPr lang="ru-RU" sz="2400" b="0" i="0" dirty="0">
                <a:effectLst/>
              </a:rPr>
              <a:t> </a:t>
            </a:r>
            <a:r>
              <a:rPr lang="ru-RU" sz="2400" b="0" i="0" dirty="0" err="1">
                <a:effectLst/>
              </a:rPr>
              <a:t>str</a:t>
            </a:r>
            <a:r>
              <a:rPr lang="ru-RU" sz="2400" b="0" i="0" dirty="0">
                <a:effectLst/>
              </a:rPr>
              <a:t>(</a:t>
            </a:r>
            <a:r>
              <a:rPr lang="ru-RU" sz="2400" b="0" i="0" dirty="0" err="1">
                <a:effectLst/>
              </a:rPr>
              <a:t>key</a:t>
            </a:r>
            <a:r>
              <a:rPr lang="ru-RU" sz="2400" b="0" i="0" dirty="0">
                <a:effectLst/>
              </a:rPr>
              <a:t>)) % </a:t>
            </a:r>
            <a:r>
              <a:rPr lang="ru-RU" sz="2400" b="0" i="0" dirty="0" err="1">
                <a:effectLst/>
              </a:rPr>
              <a:t>table_size</a:t>
            </a:r>
            <a:endParaRPr lang="ru-RU" sz="2400" b="0" i="0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ru-RU" sz="2400" dirty="0"/>
              <a:t>*Проанализируйте, насколько хорошей является эта функция и предложите свои варианты модификации.</a:t>
            </a:r>
            <a:endParaRPr lang="ru-RU" sz="2400" b="0" i="0" dirty="0">
              <a:effectLst/>
            </a:endParaRPr>
          </a:p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Протестируйте вашу реализацию, вставив не менее 1000 случайных пар ключ-значение, и измерьте время выполнения операций вставки и поиска (библиотека </a:t>
            </a:r>
            <a:r>
              <a:rPr lang="en-US" sz="2400" b="0" i="0" dirty="0">
                <a:effectLst/>
              </a:rPr>
              <a:t>time)</a:t>
            </a:r>
            <a:r>
              <a:rPr lang="ru-RU" sz="2400" b="0" i="0" dirty="0">
                <a:effectLst/>
              </a:rPr>
              <a:t> в зависимости от коэффициента заполнения.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</TotalTime>
  <Words>111</Words>
  <Application>Microsoft Macintosh PowerPoint</Application>
  <PresentationFormat>Широкоэкранный</PresentationFormat>
  <Paragraphs>15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Montserrat</vt:lpstr>
      <vt:lpstr>Arial</vt:lpstr>
      <vt:lpstr>Calibri</vt:lpstr>
      <vt:lpstr>Шаблон МИФИ</vt:lpstr>
      <vt:lpstr>Презентация PowerPoint</vt:lpstr>
      <vt:lpstr>Задача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Microsoft Office User</cp:lastModifiedBy>
  <cp:revision>73</cp:revision>
  <dcterms:created xsi:type="dcterms:W3CDTF">2020-05-28T16:18:16Z</dcterms:created>
  <dcterms:modified xsi:type="dcterms:W3CDTF">2026-03-23T13:25:14Z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