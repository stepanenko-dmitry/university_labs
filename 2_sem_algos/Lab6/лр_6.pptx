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7"/>
  </p:notesMasterIdLst>
  <p:sldIdLst>
    <p:sldId id="258" r:id="rId2"/>
    <p:sldId id="261" r:id="rId3"/>
    <p:sldId id="262" r:id="rId4"/>
    <p:sldId id="263" r:id="rId5"/>
    <p:sldId id="264" r:id="rId6"/>
  </p:sldIdLst>
  <p:sldSz cx="12192000" cy="6858000"/>
  <p:notesSz cx="6858000" cy="9144000"/>
  <p:embeddedFontLst>
    <p:embeddedFont>
      <p:font typeface="Montserrat" panose="00000500000000000000" pitchFamily="2" charset="-52"/>
      <p:regular r:id="rId8"/>
      <p:bold r:id="rId9"/>
      <p:italic r:id="rId10"/>
      <p:boldItalic r:id="rId1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BEE"/>
    <a:srgbClr val="E46C2A"/>
    <a:srgbClr val="FF7300"/>
    <a:srgbClr val="0055BB"/>
    <a:srgbClr val="0061AF"/>
    <a:srgbClr val="8F9092"/>
    <a:srgbClr val="DDDEDE"/>
    <a:srgbClr val="222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97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6371-251F-4ED8-9B56-EDA7AD5BC192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1231-4811-4266-96DE-A5316DE68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24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8B1231-4811-4266-96DE-A5316DE68A6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570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>
          <a:xfrm>
            <a:off x="5340011" y="6291675"/>
            <a:ext cx="1649811" cy="369332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202</a:t>
            </a:r>
            <a:r>
              <a:rPr lang="en-US">
                <a:solidFill>
                  <a:schemeClr val="tx1"/>
                </a:solidFill>
              </a:rPr>
              <a:t>6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727364" y="2924814"/>
            <a:ext cx="10737272" cy="769441"/>
          </a:xfrm>
        </p:spPr>
        <p:txBody>
          <a:bodyPr/>
          <a:lstStyle/>
          <a:p>
            <a:pPr algn="ctr"/>
            <a:r>
              <a:rPr lang="ru-RU" sz="4400" dirty="0"/>
              <a:t>Лабораторная работа 6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336" y="681629"/>
            <a:ext cx="1904264" cy="140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984CBB-0DCC-4620-A4B0-8447C78414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982176"/>
            <a:ext cx="10976256" cy="3785652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400" b="0" i="0" dirty="0">
                <a:effectLst/>
              </a:rPr>
              <a:t>Напишите метод, реализующий бинарный поиск при помощи цикла и рекурсивно. Какая временная сложность будет у каждой из реализаций? Какая пространственная* сложность будет у каждой из реализаций?</a:t>
            </a:r>
          </a:p>
          <a:p>
            <a:pPr algn="l">
              <a:spcAft>
                <a:spcPts val="0"/>
              </a:spcAft>
            </a:pPr>
            <a:endParaRPr lang="ru-RU" sz="2400" dirty="0"/>
          </a:p>
          <a:p>
            <a:pPr algn="l">
              <a:spcAft>
                <a:spcPts val="0"/>
              </a:spcAft>
            </a:pPr>
            <a:r>
              <a:rPr lang="ru-RU" sz="2400" b="0" i="0" dirty="0">
                <a:effectLst/>
              </a:rPr>
              <a:t>*Пространственная сложность алгоритма — это мера объёма памяти, необходимого для выполнения алгоритма в зависимости от размера входных данных. О(1) – память не зависит от входных данных. </a:t>
            </a:r>
            <a:r>
              <a:rPr lang="en-US" sz="2400" dirty="0"/>
              <a:t>O(n) – </a:t>
            </a:r>
            <a:r>
              <a:rPr lang="ru-RU" sz="2400" dirty="0"/>
              <a:t>требуемый объем памяти прямо пропорционален размеру входных данных и т.д.</a:t>
            </a:r>
            <a:endParaRPr lang="ru-RU" sz="24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9583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D6C0D-293F-62EB-07F5-A9033E14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17180A-B249-07FA-A11A-92525991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5A20CA-60C3-A8BF-16D0-7F610C35D0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982176"/>
            <a:ext cx="10976256" cy="830997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2400" dirty="0"/>
              <a:t>Реализуйте алгоритм сортировки вставками с использованием бинарного поиска для нахождения позиции вставки.</a:t>
            </a:r>
            <a:endParaRPr lang="ru-RU" sz="24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0581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C6C3-12E0-B411-524C-4606D3C2B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9928A-150E-FBBA-8F82-193EFBB1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3*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770091-7791-ECC1-6D0E-0F5A770E1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2" y="982176"/>
            <a:ext cx="10976256" cy="3970318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lang="ru-RU" sz="1800" dirty="0"/>
              <a:t>Вам необходимо разработать систему для анализа результатов студентов. У вас есть данные о студентах в формате списка кортежей, где каждый кортеж содержит (имя, предмет, оценка). Требуется:</a:t>
            </a:r>
          </a:p>
          <a:p>
            <a:pPr algn="l">
              <a:spcAft>
                <a:spcPts val="0"/>
              </a:spcAft>
            </a:pPr>
            <a:r>
              <a:rPr lang="en-US" sz="1800" dirty="0"/>
              <a:t>1. </a:t>
            </a:r>
            <a:r>
              <a:rPr lang="ru-RU" sz="1800" dirty="0"/>
              <a:t>Реализовать функцию сортировки данных по нескольким критериям (сначала по предмету, затем по оценке в порядке убывания, затем по имени)</a:t>
            </a:r>
            <a:r>
              <a:rPr lang="en-US" sz="1800" dirty="0"/>
              <a:t> (</a:t>
            </a:r>
            <a:r>
              <a:rPr lang="ru-RU" sz="1800" b="1" u="sng" dirty="0"/>
              <a:t>запрещено</a:t>
            </a:r>
            <a:r>
              <a:rPr lang="ru-RU" sz="1800" u="sng" dirty="0"/>
              <a:t> пользоваться встроенными сортировками в </a:t>
            </a:r>
            <a:r>
              <a:rPr lang="en-US" sz="1800" u="sng" dirty="0"/>
              <a:t>python </a:t>
            </a:r>
            <a:r>
              <a:rPr lang="ru-RU" sz="1800" u="sng" dirty="0"/>
              <a:t>и библиотечными методами для сортировки</a:t>
            </a:r>
            <a:r>
              <a:rPr lang="ru-RU" sz="1800" dirty="0"/>
              <a:t>)</a:t>
            </a:r>
          </a:p>
          <a:p>
            <a:pPr>
              <a:spcAft>
                <a:spcPts val="0"/>
              </a:spcAft>
            </a:pPr>
            <a:r>
              <a:rPr lang="en-US" sz="1800" dirty="0"/>
              <a:t>2. </a:t>
            </a:r>
            <a:r>
              <a:rPr lang="ru-RU" sz="1800" dirty="0"/>
              <a:t>Реализовать эффективный поиск студентов, получивших определенную оценку по заданному предмету </a:t>
            </a:r>
            <a:r>
              <a:rPr lang="en-US" sz="1800" dirty="0"/>
              <a:t>(</a:t>
            </a:r>
            <a:r>
              <a:rPr lang="ru-RU" sz="1800" b="1" u="sng" dirty="0"/>
              <a:t>запрещено</a:t>
            </a:r>
            <a:r>
              <a:rPr lang="ru-RU" sz="1800" u="sng" dirty="0"/>
              <a:t> использование методов </a:t>
            </a:r>
            <a:r>
              <a:rPr lang="en-US" sz="1800" i="1" u="sng" dirty="0"/>
              <a:t>.index()</a:t>
            </a:r>
            <a:r>
              <a:rPr lang="en-US" sz="1800" u="sng" dirty="0"/>
              <a:t>, </a:t>
            </a:r>
            <a:r>
              <a:rPr lang="en-US" sz="1800" i="1" u="sng" dirty="0"/>
              <a:t>.find() </a:t>
            </a:r>
            <a:r>
              <a:rPr lang="ru-RU" sz="1800" i="1" u="sng" dirty="0"/>
              <a:t>и других встроенных методов поиска</a:t>
            </a:r>
            <a:r>
              <a:rPr lang="ru-RU" sz="1800" dirty="0"/>
              <a:t>)</a:t>
            </a:r>
          </a:p>
          <a:p>
            <a:pPr algn="l">
              <a:spcAft>
                <a:spcPts val="0"/>
              </a:spcAft>
            </a:pPr>
            <a:r>
              <a:rPr lang="en-US" sz="1800" dirty="0"/>
              <a:t>3. </a:t>
            </a:r>
            <a:r>
              <a:rPr lang="ru-RU" sz="1800" dirty="0"/>
              <a:t>Вычислить среднюю оценку для каждого предмета</a:t>
            </a:r>
            <a:r>
              <a:rPr lang="en-US" sz="1800" dirty="0"/>
              <a:t> (</a:t>
            </a:r>
            <a:r>
              <a:rPr lang="ru-RU" sz="1800" b="1" u="sng" dirty="0"/>
              <a:t>запрещено</a:t>
            </a:r>
            <a:r>
              <a:rPr lang="ru-RU" sz="1800" u="sng" dirty="0"/>
              <a:t> использование методов </a:t>
            </a:r>
            <a:r>
              <a:rPr lang="en-US" sz="1800" u="sng" dirty="0" err="1"/>
              <a:t>len</a:t>
            </a:r>
            <a:r>
              <a:rPr lang="ru-RU" sz="1800" u="sng" dirty="0"/>
              <a:t>()</a:t>
            </a:r>
            <a:r>
              <a:rPr lang="en-US" sz="1800" u="sng" dirty="0"/>
              <a:t>, sum</a:t>
            </a:r>
            <a:r>
              <a:rPr lang="ru-RU" sz="1800" u="sng" dirty="0"/>
              <a:t>()</a:t>
            </a:r>
            <a:r>
              <a:rPr lang="ru-RU" sz="1800" dirty="0"/>
              <a:t>)</a:t>
            </a:r>
          </a:p>
          <a:p>
            <a:pPr>
              <a:spcAft>
                <a:spcPts val="0"/>
              </a:spcAft>
            </a:pPr>
            <a:r>
              <a:rPr lang="en-US" sz="1800" dirty="0"/>
              <a:t>4. </a:t>
            </a:r>
            <a:r>
              <a:rPr lang="ru-RU" sz="1800" dirty="0"/>
              <a:t>Определить студентов с наивысшими средними баллами</a:t>
            </a:r>
            <a:r>
              <a:rPr lang="en-US" sz="1800" dirty="0"/>
              <a:t> </a:t>
            </a:r>
            <a:r>
              <a:rPr lang="ru-RU" sz="1800" dirty="0"/>
              <a:t>предмета</a:t>
            </a:r>
            <a:r>
              <a:rPr lang="en-US" sz="1800" dirty="0"/>
              <a:t> (</a:t>
            </a:r>
            <a:r>
              <a:rPr lang="ru-RU" sz="1800" b="1" u="sng" dirty="0"/>
              <a:t>запрещено</a:t>
            </a:r>
            <a:r>
              <a:rPr lang="ru-RU" sz="1800" u="sng" dirty="0"/>
              <a:t> использование методов </a:t>
            </a:r>
            <a:r>
              <a:rPr lang="en-US" sz="1800" u="sng" dirty="0" err="1"/>
              <a:t>len</a:t>
            </a:r>
            <a:r>
              <a:rPr lang="ru-RU" sz="1800" u="sng" dirty="0"/>
              <a:t>()</a:t>
            </a:r>
            <a:r>
              <a:rPr lang="en-US" sz="1800" u="sng" dirty="0"/>
              <a:t>, sum</a:t>
            </a:r>
            <a:r>
              <a:rPr lang="ru-RU" sz="1800" u="sng" dirty="0"/>
              <a:t>()</a:t>
            </a:r>
            <a:r>
              <a:rPr lang="ru-RU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0997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D5B1A-6EC4-3E50-A83B-C7D17A6B9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6E4054-BE49-D65C-D9B2-587439FA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3*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32211B1-5262-F4DE-482A-5C6BD9667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786104"/>
              </p:ext>
            </p:extLst>
          </p:nvPr>
        </p:nvGraphicFramePr>
        <p:xfrm>
          <a:off x="559572" y="1132407"/>
          <a:ext cx="11348964" cy="536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4482">
                  <a:extLst>
                    <a:ext uri="{9D8B030D-6E8A-4147-A177-3AD203B41FA5}">
                      <a16:colId xmlns:a16="http://schemas.microsoft.com/office/drawing/2014/main" val="1307402173"/>
                    </a:ext>
                  </a:extLst>
                </a:gridCol>
                <a:gridCol w="5674482">
                  <a:extLst>
                    <a:ext uri="{9D8B030D-6E8A-4147-A177-3AD203B41FA5}">
                      <a16:colId xmlns:a16="http://schemas.microsoft.com/office/drawing/2014/main" val="430504199"/>
                    </a:ext>
                  </a:extLst>
                </a:gridCol>
              </a:tblGrid>
              <a:tr h="53664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Входные данные: [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        ("Иванов", "Математика", 85),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        ("Петров", "Физика", 92),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        ("Сидоров", "Математика", 78),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        ("Иванов", "Физика", 90),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        ("Петров", "Математика", 88),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        ("Сидоров", "Информатика", 95),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        ("Иванов", "Информатика", 82),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        ("Петров", "Информатика", 97),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        ("Сидоров", "Физика", 85)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    ]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("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  <a:effectLst/>
                        </a:rPr>
                        <a:t>Математика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</a:rPr>
                        <a:t>", 85)</a:t>
                      </a:r>
                      <a:endParaRPr lang="ru-RU" sz="1600" b="0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endParaRPr lang="en-US" sz="1600" b="0" i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i="0" dirty="0">
                          <a:solidFill>
                            <a:schemeClr val="tx1"/>
                          </a:solidFill>
                          <a:effectLst/>
                        </a:rPr>
                        <a:t>Результат: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Отсортированные данные: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('Петров', 'Информатика', 97)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('Сидоров', 'Информатика', 95)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('Иванов', 'Информатика', 82)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('Петров', 'Математика', 88)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('Иванов', 'Математика', 85)</a:t>
                      </a:r>
                    </a:p>
                    <a:p>
                      <a:endParaRPr lang="ru-RU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('Сидоров', 'Математика', 78)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('Петров', 'Физика', 92)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('Иванов', 'Физика', 90)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('Сидоров', 'Физика', 85)</a:t>
                      </a:r>
                    </a:p>
                    <a:p>
                      <a:endParaRPr lang="ru-RU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Студенты с оценкой 85 по предмету Математика: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('Иванов', 'Математика', 85)</a:t>
                      </a:r>
                    </a:p>
                    <a:p>
                      <a:endParaRPr lang="ru-RU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Средние оценки по предметам: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Математика: 83.67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Физика: 89.00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Информатика: 91.33</a:t>
                      </a:r>
                    </a:p>
                    <a:p>
                      <a:endParaRPr lang="ru-RU" sz="16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Лучшие студенты: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1. Петров: 92.33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2. Сидоров: 86.00</a:t>
                      </a:r>
                    </a:p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3. Иванов: 85.67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706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947586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2162</TotalTime>
  <Words>453</Words>
  <Application>Microsoft Office PowerPoint</Application>
  <PresentationFormat>Широкоэкранный</PresentationFormat>
  <Paragraphs>53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Montserrat</vt:lpstr>
      <vt:lpstr>Arial</vt:lpstr>
      <vt:lpstr>Calibri</vt:lpstr>
      <vt:lpstr>Шаблон МИФИ</vt:lpstr>
      <vt:lpstr>Презентация PowerPoint</vt:lpstr>
      <vt:lpstr>Задача 1</vt:lpstr>
      <vt:lpstr>Задача 2</vt:lpstr>
      <vt:lpstr>Задача 3*</vt:lpstr>
      <vt:lpstr>Задача 3*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Владимир Волков</cp:lastModifiedBy>
  <cp:revision>77</cp:revision>
  <dcterms:created xsi:type="dcterms:W3CDTF">2020-05-28T16:18:16Z</dcterms:created>
  <dcterms:modified xsi:type="dcterms:W3CDTF">2026-02-15T17:13:56Z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