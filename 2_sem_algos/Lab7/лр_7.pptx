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7"/>
  </p:notesMasterIdLst>
  <p:sldIdLst>
    <p:sldId id="258" r:id="rId2"/>
    <p:sldId id="262" r:id="rId3"/>
    <p:sldId id="265" r:id="rId4"/>
    <p:sldId id="261" r:id="rId5"/>
    <p:sldId id="263" r:id="rId6"/>
  </p:sldIdLst>
  <p:sldSz cx="12192000" cy="6858000"/>
  <p:notesSz cx="6858000" cy="9144000"/>
  <p:embeddedFontLst>
    <p:embeddedFont>
      <p:font typeface="Montserrat" pitchFamily="2" charset="0"/>
      <p:regular r:id="rId8"/>
      <p:bold r:id="rId9"/>
      <p:italic r:id="rId10"/>
      <p:boldItalic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E46C2A"/>
    <a:srgbClr val="FF7300"/>
    <a:srgbClr val="0055BB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44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6371-251F-4ED8-9B56-EDA7AD5BC192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231-4811-4266-96DE-A5316DE68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340011" y="6291675"/>
            <a:ext cx="1649811" cy="369332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2026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27364" y="2924814"/>
            <a:ext cx="10737272" cy="769441"/>
          </a:xfrm>
        </p:spPr>
        <p:txBody>
          <a:bodyPr/>
          <a:lstStyle/>
          <a:p>
            <a:pPr algn="ctr"/>
            <a:r>
              <a:rPr lang="ru-RU" sz="4400" dirty="0"/>
              <a:t>Лабораторная работа </a:t>
            </a:r>
            <a:r>
              <a:rPr lang="en-US" sz="4400" dirty="0"/>
              <a:t>7</a:t>
            </a:r>
            <a:endParaRPr lang="ru-RU" sz="4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6" y="681629"/>
            <a:ext cx="1904264" cy="14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6C0D-293F-62EB-07F5-A9033E14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7180A-B249-07FA-A11A-92525991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5A20CA-60C3-A8BF-16D0-7F610C35D0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3046988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400" dirty="0"/>
              <a:t>Реализуйте алгоритм сортировки слиянием для односвязного списка. Алгоритм должен работать без преобразования списка в массив и обратно.</a:t>
            </a:r>
          </a:p>
          <a:p>
            <a:pPr algn="l">
              <a:spcAft>
                <a:spcPts val="0"/>
              </a:spcAft>
            </a:pPr>
            <a:r>
              <a:rPr lang="ru-RU" sz="2400" dirty="0"/>
              <a:t>Требования:</a:t>
            </a:r>
          </a:p>
          <a:p>
            <a:pPr algn="l">
              <a:spcAft>
                <a:spcPts val="0"/>
              </a:spcAft>
            </a:pPr>
            <a:r>
              <a:rPr lang="ru-RU" sz="2400" dirty="0"/>
              <a:t>Реализовать функцию </a:t>
            </a:r>
            <a:r>
              <a:rPr lang="ru-RU" sz="2400" i="1" dirty="0" err="1"/>
              <a:t>merge_sort_linked_list</a:t>
            </a:r>
            <a:r>
              <a:rPr lang="ru-RU" sz="2400" i="1" dirty="0"/>
              <a:t>(</a:t>
            </a:r>
            <a:r>
              <a:rPr lang="ru-RU" sz="2400" i="1" dirty="0" err="1"/>
              <a:t>head</a:t>
            </a:r>
            <a:r>
              <a:rPr lang="ru-RU" sz="2400" i="1" dirty="0"/>
              <a:t>)</a:t>
            </a:r>
            <a:r>
              <a:rPr lang="ru-RU" sz="2400" dirty="0"/>
              <a:t>, которая принимает голову списка и возвращает отсортированный список.</a:t>
            </a:r>
          </a:p>
          <a:p>
            <a:pPr algn="l">
              <a:spcAft>
                <a:spcPts val="0"/>
              </a:spcAft>
            </a:pPr>
            <a:r>
              <a:rPr lang="ru-RU" sz="2400" dirty="0"/>
              <a:t>Реализовать функцию </a:t>
            </a:r>
            <a:r>
              <a:rPr lang="ru-RU" sz="2400" i="1" dirty="0" err="1"/>
              <a:t>merge_lists</a:t>
            </a:r>
            <a:r>
              <a:rPr lang="ru-RU" sz="2400" i="1" dirty="0"/>
              <a:t>(</a:t>
            </a:r>
            <a:r>
              <a:rPr lang="ru-RU" sz="2400" i="1" dirty="0" err="1"/>
              <a:t>left</a:t>
            </a:r>
            <a:r>
              <a:rPr lang="ru-RU" sz="2400" i="1" dirty="0"/>
              <a:t>, </a:t>
            </a:r>
            <a:r>
              <a:rPr lang="ru-RU" sz="2400" i="1" dirty="0" err="1"/>
              <a:t>right</a:t>
            </a:r>
            <a:r>
              <a:rPr lang="ru-RU" sz="2400" i="1" dirty="0"/>
              <a:t>)</a:t>
            </a:r>
            <a:r>
              <a:rPr lang="ru-RU" sz="2400" dirty="0"/>
              <a:t> для объединения двух отсортированных списков.</a:t>
            </a:r>
            <a:endParaRPr lang="ru-RU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58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DF1D-BC0D-5021-3E4C-6D429687F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0CE76-342C-3600-AE8C-A92B6877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A2B362-4456-1BE1-C2F7-E4BBF0CD97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5016758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1" i="0" dirty="0">
                <a:effectLst/>
              </a:rPr>
              <a:t>Пример ввода:</a:t>
            </a:r>
            <a:br>
              <a:rPr lang="ru-RU" sz="2000" b="0" i="0" dirty="0">
                <a:effectLst/>
              </a:rPr>
            </a:br>
            <a:r>
              <a:rPr lang="ru-RU" sz="2000" b="0" i="1" dirty="0">
                <a:effectLst/>
              </a:rPr>
              <a:t># Создание односвязного списка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</a:t>
            </a:r>
            <a:r>
              <a:rPr lang="en-US" sz="2000" b="0" i="1" dirty="0">
                <a:effectLst/>
              </a:rPr>
              <a:t> = LinkedList()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linked_list.append</a:t>
            </a:r>
            <a:r>
              <a:rPr lang="en-US" sz="2000" b="0" i="1" dirty="0">
                <a:effectLst/>
              </a:rPr>
              <a:t>(38)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linked_list.append</a:t>
            </a:r>
            <a:r>
              <a:rPr lang="en-US" sz="2000" b="0" i="1" dirty="0">
                <a:effectLst/>
              </a:rPr>
              <a:t>(27)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linked_list.append</a:t>
            </a:r>
            <a:r>
              <a:rPr lang="en-US" sz="2000" b="0" i="1" dirty="0">
                <a:effectLst/>
              </a:rPr>
              <a:t>(43)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linked_list.append</a:t>
            </a:r>
            <a:r>
              <a:rPr lang="en-US" sz="2000" b="0" i="1" dirty="0">
                <a:effectLst/>
              </a:rPr>
              <a:t>(3)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linked_list.append</a:t>
            </a:r>
            <a:r>
              <a:rPr lang="en-US" sz="2000" b="0" i="1" dirty="0">
                <a:effectLst/>
              </a:rPr>
              <a:t>(9)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linked_list.append</a:t>
            </a:r>
            <a:r>
              <a:rPr lang="en-US" sz="2000" b="0" i="1" dirty="0">
                <a:effectLst/>
              </a:rPr>
              <a:t>(82)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linked_list.append</a:t>
            </a:r>
            <a:r>
              <a:rPr lang="en-US" sz="2000" b="0" i="1" dirty="0">
                <a:effectLst/>
              </a:rPr>
              <a:t>(10)</a:t>
            </a:r>
          </a:p>
          <a:p>
            <a:pPr algn="l">
              <a:spcAft>
                <a:spcPts val="0"/>
              </a:spcAft>
            </a:pPr>
            <a:endParaRPr lang="en-US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en-US" sz="2000" b="0" i="1" dirty="0">
                <a:effectLst/>
              </a:rPr>
              <a:t># </a:t>
            </a:r>
            <a:r>
              <a:rPr lang="ru-RU" sz="2000" b="0" i="1" dirty="0">
                <a:effectLst/>
              </a:rPr>
              <a:t>Сортировка</a:t>
            </a:r>
          </a:p>
          <a:p>
            <a:pPr algn="l">
              <a:spcAft>
                <a:spcPts val="0"/>
              </a:spcAft>
            </a:pPr>
            <a:r>
              <a:rPr lang="en-US" sz="2000" b="0" i="1" dirty="0" err="1">
                <a:effectLst/>
              </a:rPr>
              <a:t>sorted_head</a:t>
            </a:r>
            <a:r>
              <a:rPr lang="en-US" sz="2000" b="0" i="1" dirty="0">
                <a:effectLst/>
              </a:rPr>
              <a:t> = </a:t>
            </a:r>
            <a:r>
              <a:rPr lang="en-US" sz="2000" b="0" i="1" dirty="0" err="1">
                <a:effectLst/>
              </a:rPr>
              <a:t>merge_sort_linked_list</a:t>
            </a:r>
            <a:r>
              <a:rPr lang="en-US" sz="2000" b="0" i="1" dirty="0">
                <a:effectLst/>
              </a:rPr>
              <a:t>(</a:t>
            </a:r>
            <a:r>
              <a:rPr lang="en-US" sz="2000" b="0" i="1" dirty="0" err="1">
                <a:effectLst/>
              </a:rPr>
              <a:t>linked_list.head</a:t>
            </a:r>
            <a:r>
              <a:rPr lang="en-US" sz="2000" b="0" i="1" dirty="0">
                <a:effectLst/>
              </a:rPr>
              <a:t>)</a:t>
            </a: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endParaRPr lang="ru-RU" sz="2000" b="0" i="1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ru-RU" sz="2000" b="1" dirty="0"/>
              <a:t>Пример вывода:</a:t>
            </a:r>
          </a:p>
          <a:p>
            <a:pPr algn="l">
              <a:spcAft>
                <a:spcPts val="0"/>
              </a:spcAft>
            </a:pPr>
            <a:r>
              <a:rPr lang="ru-RU" sz="2000" b="0" i="1" dirty="0">
                <a:effectLst/>
              </a:rPr>
              <a:t>Отсортированный список: 3 -&gt; 9 -&gt; 10 -&gt; 27 -&gt; 38 -&gt; 43 -&gt; 82</a:t>
            </a:r>
            <a:endParaRPr lang="en-US" sz="2000" b="0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683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/>
              <a:t>2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5940088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Напишите программу для сравнения времени выполнения трёх алгоритмов сортировки: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Сортировка слиянием.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Быстрая сортировка.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Встроенная функция Python </a:t>
            </a:r>
            <a:r>
              <a:rPr lang="ru-RU" sz="2000" b="0" i="0" dirty="0" err="1">
                <a:effectLst/>
              </a:rPr>
              <a:t>sorted</a:t>
            </a:r>
            <a:r>
              <a:rPr lang="ru-RU" sz="2000" b="0" i="0" dirty="0">
                <a:effectLst/>
              </a:rPr>
              <a:t>().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Заполнение массива случайными числами, размер</a:t>
            </a:r>
            <a:r>
              <a:rPr lang="en-GB" sz="2000" b="0" i="0" dirty="0">
                <a:effectLst/>
              </a:rPr>
              <a:t> </a:t>
            </a:r>
            <a:r>
              <a:rPr lang="ru-RU" sz="2000" b="0" i="0" dirty="0">
                <a:effectLst/>
              </a:rPr>
              <a:t>массива </a:t>
            </a:r>
            <a:r>
              <a:rPr lang="en-US" sz="2000" b="0" i="0" dirty="0">
                <a:effectLst/>
              </a:rPr>
              <a:t>10^3, 10^4, 10^5, </a:t>
            </a:r>
            <a:r>
              <a:rPr lang="ru-RU" sz="2000" b="0" i="0" dirty="0">
                <a:effectLst/>
              </a:rPr>
              <a:t>10</a:t>
            </a:r>
            <a:r>
              <a:rPr lang="en-US" sz="2000" b="0" i="0" dirty="0">
                <a:effectLst/>
              </a:rPr>
              <a:t>^6</a:t>
            </a:r>
            <a:r>
              <a:rPr lang="ru-RU" sz="2000" b="0" i="0" dirty="0">
                <a:effectLst/>
              </a:rPr>
              <a:t>.</a:t>
            </a:r>
            <a:r>
              <a:rPr lang="en-US" sz="2000" b="0" i="0" dirty="0">
                <a:effectLst/>
              </a:rPr>
              <a:t> </a:t>
            </a:r>
            <a:r>
              <a:rPr lang="ru-RU" sz="2000" dirty="0"/>
              <a:t>Проанализируйте полученные результаты.</a:t>
            </a:r>
          </a:p>
          <a:p>
            <a:pPr algn="l">
              <a:spcAft>
                <a:spcPts val="0"/>
              </a:spcAft>
            </a:pPr>
            <a:r>
              <a:rPr lang="ru-RU" sz="2000" dirty="0"/>
              <a:t>После проведения начального анализа, реализуйте оптимизированные версии алгоритмов сортировки слиянием и быстрой сортировки</a:t>
            </a:r>
            <a:r>
              <a:rPr lang="en-US" sz="2000" dirty="0"/>
              <a:t> </a:t>
            </a:r>
            <a:r>
              <a:rPr lang="ru-RU" sz="2000" dirty="0"/>
              <a:t>и повторите повторный анализ.</a:t>
            </a:r>
          </a:p>
          <a:p>
            <a:pPr algn="l">
              <a:spcAft>
                <a:spcPts val="0"/>
              </a:spcAft>
            </a:pPr>
            <a:r>
              <a:rPr lang="ru-RU" sz="2000" b="1" dirty="0"/>
              <a:t>Пример вывода:</a:t>
            </a:r>
            <a:br>
              <a:rPr lang="ru-RU" sz="2000" dirty="0"/>
            </a:br>
            <a:r>
              <a:rPr lang="ru-RU" sz="2000" i="1" dirty="0"/>
              <a:t>Размер массива: &lt;размер&gt;</a:t>
            </a:r>
          </a:p>
          <a:p>
            <a:pPr algn="l">
              <a:spcAft>
                <a:spcPts val="0"/>
              </a:spcAft>
            </a:pPr>
            <a:r>
              <a:rPr lang="ru-RU" sz="2000" i="1" dirty="0"/>
              <a:t>---------------------------------</a:t>
            </a:r>
          </a:p>
          <a:p>
            <a:pPr algn="l">
              <a:spcAft>
                <a:spcPts val="0"/>
              </a:spcAft>
            </a:pPr>
            <a:r>
              <a:rPr lang="ru-RU" sz="2000" i="1" dirty="0"/>
              <a:t>Метод                       | Время (мс)</a:t>
            </a:r>
          </a:p>
          <a:p>
            <a:pPr algn="l">
              <a:spcAft>
                <a:spcPts val="0"/>
              </a:spcAft>
            </a:pPr>
            <a:r>
              <a:rPr lang="ru-RU" sz="2000" i="1" dirty="0"/>
              <a:t>---------------------------------</a:t>
            </a:r>
          </a:p>
          <a:p>
            <a:pPr algn="l">
              <a:spcAft>
                <a:spcPts val="0"/>
              </a:spcAft>
            </a:pPr>
            <a:r>
              <a:rPr lang="ru-RU" sz="2000" i="1" dirty="0"/>
              <a:t>Сортировка слиянием         | </a:t>
            </a:r>
            <a:r>
              <a:rPr lang="en-US" sz="2000" i="1" dirty="0"/>
              <a:t>XXX.XX</a:t>
            </a:r>
          </a:p>
          <a:p>
            <a:pPr algn="l">
              <a:spcAft>
                <a:spcPts val="0"/>
              </a:spcAft>
            </a:pPr>
            <a:r>
              <a:rPr lang="ru-RU" sz="2000" i="1" dirty="0"/>
              <a:t>Быстрая сортировка          | </a:t>
            </a:r>
            <a:r>
              <a:rPr lang="en-US" sz="2000" i="1" dirty="0"/>
              <a:t>XXX.XX</a:t>
            </a:r>
          </a:p>
          <a:p>
            <a:pPr algn="l">
              <a:spcAft>
                <a:spcPts val="0"/>
              </a:spcAft>
            </a:pPr>
            <a:r>
              <a:rPr lang="en-US" sz="2000" i="1" dirty="0"/>
              <a:t>Python sorted()             | XXX.XX</a:t>
            </a:r>
          </a:p>
          <a:p>
            <a:pPr algn="l">
              <a:spcAft>
                <a:spcPts val="0"/>
              </a:spcAft>
            </a:pPr>
            <a:r>
              <a:rPr lang="en-US" sz="2000" i="1" dirty="0"/>
              <a:t>---------------------------------</a:t>
            </a:r>
            <a:endParaRPr lang="ru-RU" sz="2000" i="1" dirty="0"/>
          </a:p>
        </p:txBody>
      </p:sp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C6C3-12E0-B411-524C-4606D3C2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9928A-150E-FBBA-8F82-193EFBB1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770091-7791-ECC1-6D0E-0F5A770E1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4524315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1800" dirty="0"/>
              <a:t>Реализуйте модификацию алгоритма сортировки слиянием, которая минимизирует количество сравнений элементов. Для этого:</a:t>
            </a:r>
          </a:p>
          <a:p>
            <a:pPr algn="l">
              <a:spcAft>
                <a:spcPts val="0"/>
              </a:spcAft>
            </a:pPr>
            <a:r>
              <a:rPr lang="ru-RU" sz="1800" dirty="0"/>
              <a:t>Используйте стратегию "естественного слияния" — объединяйте уже упорядоченные </a:t>
            </a:r>
            <a:r>
              <a:rPr lang="ru-RU" sz="1800" dirty="0" err="1"/>
              <a:t>подмассивы</a:t>
            </a:r>
            <a:r>
              <a:rPr lang="ru-RU" sz="1800" dirty="0"/>
              <a:t> (возникающие в исходном массиве) вместо рекурсивного разделения.</a:t>
            </a:r>
          </a:p>
          <a:p>
            <a:pPr algn="l">
              <a:spcAft>
                <a:spcPts val="0"/>
              </a:spcAft>
            </a:pPr>
            <a:r>
              <a:rPr lang="ru-RU" sz="1800" dirty="0"/>
              <a:t>Подсчитайте количество сравнений для случайных, упорядоченных и обратно упорядоченных массивов.</a:t>
            </a:r>
          </a:p>
          <a:p>
            <a:pPr algn="l">
              <a:spcAft>
                <a:spcPts val="0"/>
              </a:spcAft>
            </a:pPr>
            <a:r>
              <a:rPr lang="ru-RU" sz="1800" dirty="0"/>
              <a:t>Требования:</a:t>
            </a:r>
          </a:p>
          <a:p>
            <a:pPr algn="l">
              <a:spcAft>
                <a:spcPts val="0"/>
              </a:spcAft>
            </a:pPr>
            <a:r>
              <a:rPr lang="ru-RU" sz="1800" dirty="0"/>
              <a:t>Реализовать функцию </a:t>
            </a:r>
            <a:r>
              <a:rPr lang="ru-RU" sz="1800" dirty="0" err="1"/>
              <a:t>natural_merge_sort</a:t>
            </a:r>
            <a:r>
              <a:rPr lang="ru-RU" sz="1800" dirty="0"/>
              <a:t>(</a:t>
            </a:r>
            <a:r>
              <a:rPr lang="ru-RU" sz="1800" dirty="0" err="1"/>
              <a:t>array</a:t>
            </a:r>
            <a:r>
              <a:rPr lang="ru-RU" sz="1800" dirty="0"/>
              <a:t>).</a:t>
            </a:r>
          </a:p>
          <a:p>
            <a:pPr algn="l">
              <a:spcAft>
                <a:spcPts val="0"/>
              </a:spcAft>
            </a:pPr>
            <a:r>
              <a:rPr lang="ru-RU" sz="1800" dirty="0"/>
              <a:t>Сравнить количество сравнений с классической сортировкой слиянием и быстрой сортировкой для массивов размером 10³–10⁴ элементов.</a:t>
            </a:r>
            <a:endParaRPr lang="en-US" sz="1800" dirty="0"/>
          </a:p>
          <a:p>
            <a:pPr algn="l">
              <a:spcAft>
                <a:spcPts val="0"/>
              </a:spcAft>
            </a:pPr>
            <a:endParaRPr lang="en-US" sz="1800" dirty="0"/>
          </a:p>
          <a:p>
            <a:pPr algn="l">
              <a:spcAft>
                <a:spcPts val="0"/>
              </a:spcAft>
            </a:pPr>
            <a:r>
              <a:rPr lang="ru-RU" sz="1800" b="1" dirty="0"/>
              <a:t>Пример вывода:</a:t>
            </a:r>
            <a:endParaRPr lang="en-US" sz="1800" b="1" dirty="0"/>
          </a:p>
          <a:p>
            <a:pPr algn="l">
              <a:spcAft>
                <a:spcPts val="0"/>
              </a:spcAft>
            </a:pPr>
            <a:r>
              <a:rPr lang="ru-RU" sz="1800" i="1" dirty="0"/>
              <a:t>Тип массива | </a:t>
            </a:r>
            <a:r>
              <a:rPr lang="en-US" sz="1800" i="1" dirty="0"/>
              <a:t>Natural Merge | Classic Merge | Quick Sort</a:t>
            </a:r>
          </a:p>
          <a:p>
            <a:pPr algn="l">
              <a:spcAft>
                <a:spcPts val="0"/>
              </a:spcAft>
            </a:pPr>
            <a:r>
              <a:rPr lang="ru-RU" sz="1800" i="1" dirty="0"/>
              <a:t>Случайный   |    </a:t>
            </a:r>
            <a:r>
              <a:rPr lang="en-US" sz="1800" i="1" dirty="0"/>
              <a:t>XXX</a:t>
            </a:r>
            <a:r>
              <a:rPr lang="ru-RU" sz="1800" i="1" dirty="0"/>
              <a:t> </a:t>
            </a:r>
            <a:r>
              <a:rPr lang="en-US" sz="1800" i="1" dirty="0"/>
              <a:t>           </a:t>
            </a:r>
            <a:r>
              <a:rPr lang="ru-RU" sz="1800" i="1" dirty="0"/>
              <a:t>       |    </a:t>
            </a:r>
            <a:r>
              <a:rPr lang="en-US" sz="1800" i="1" dirty="0"/>
              <a:t> XXX</a:t>
            </a:r>
            <a:r>
              <a:rPr lang="ru-RU" sz="1800" i="1" dirty="0"/>
              <a:t>  </a:t>
            </a:r>
            <a:r>
              <a:rPr lang="en-US" sz="1800" i="1" dirty="0"/>
              <a:t>        </a:t>
            </a:r>
            <a:r>
              <a:rPr lang="ru-RU" sz="1800" i="1" dirty="0"/>
              <a:t>      |   </a:t>
            </a:r>
            <a:r>
              <a:rPr lang="en-US" sz="1800" i="1" dirty="0"/>
              <a:t> XXX</a:t>
            </a:r>
            <a:r>
              <a:rPr lang="ru-RU" sz="1800" i="1" dirty="0"/>
              <a:t> </a:t>
            </a:r>
          </a:p>
          <a:p>
            <a:pPr algn="l">
              <a:spcAft>
                <a:spcPts val="0"/>
              </a:spcAft>
            </a:pPr>
            <a:r>
              <a:rPr lang="ru-RU" sz="1800" i="1" dirty="0" err="1"/>
              <a:t>Отсортир</a:t>
            </a:r>
            <a:r>
              <a:rPr lang="ru-RU" sz="1800" i="1" dirty="0"/>
              <a:t>.   </a:t>
            </a:r>
            <a:r>
              <a:rPr lang="en-US" sz="1800" i="1" dirty="0"/>
              <a:t>  </a:t>
            </a:r>
            <a:r>
              <a:rPr lang="ru-RU" sz="1800" i="1" dirty="0"/>
              <a:t>|</a:t>
            </a:r>
            <a:r>
              <a:rPr lang="en-US" sz="1800" i="1" dirty="0"/>
              <a:t>     XXX</a:t>
            </a:r>
            <a:r>
              <a:rPr lang="ru-RU" sz="1800" i="1" dirty="0"/>
              <a:t>       </a:t>
            </a:r>
            <a:r>
              <a:rPr lang="en-US" sz="1800" i="1" dirty="0"/>
              <a:t>           </a:t>
            </a:r>
            <a:r>
              <a:rPr lang="ru-RU" sz="1800" i="1" dirty="0"/>
              <a:t>|    </a:t>
            </a:r>
            <a:r>
              <a:rPr lang="en-US" sz="1800" i="1" dirty="0"/>
              <a:t> XXX</a:t>
            </a:r>
            <a:r>
              <a:rPr lang="ru-RU" sz="1800" i="1" dirty="0"/>
              <a:t> </a:t>
            </a:r>
            <a:r>
              <a:rPr lang="en-US" sz="1800" i="1" dirty="0"/>
              <a:t>        </a:t>
            </a:r>
            <a:r>
              <a:rPr lang="ru-RU" sz="1800" i="1" dirty="0"/>
              <a:t>       |  </a:t>
            </a:r>
            <a:r>
              <a:rPr lang="en-US" sz="1800" i="1" dirty="0"/>
              <a:t> XXX</a:t>
            </a:r>
            <a:r>
              <a:rPr lang="ru-RU" sz="1800" i="1" dirty="0"/>
              <a:t> </a:t>
            </a:r>
          </a:p>
          <a:p>
            <a:pPr algn="l">
              <a:spcAft>
                <a:spcPts val="0"/>
              </a:spcAft>
            </a:pPr>
            <a:r>
              <a:rPr lang="ru-RU" sz="1800" i="1" dirty="0"/>
              <a:t>Обратный   | </a:t>
            </a:r>
            <a:r>
              <a:rPr lang="en-US" sz="1800" i="1" dirty="0"/>
              <a:t>    XXX</a:t>
            </a:r>
            <a:r>
              <a:rPr lang="ru-RU" sz="1800" i="1" dirty="0"/>
              <a:t>      </a:t>
            </a:r>
            <a:r>
              <a:rPr lang="en-US" sz="1800" i="1" dirty="0"/>
              <a:t>           </a:t>
            </a:r>
            <a:r>
              <a:rPr lang="ru-RU" sz="1800" i="1" dirty="0"/>
              <a:t> |    </a:t>
            </a:r>
            <a:r>
              <a:rPr lang="en-US" sz="1800" i="1" dirty="0"/>
              <a:t> XXX</a:t>
            </a:r>
            <a:r>
              <a:rPr lang="ru-RU" sz="1800" i="1" dirty="0"/>
              <a:t>        </a:t>
            </a:r>
            <a:r>
              <a:rPr lang="en-US" sz="1800" i="1" dirty="0"/>
              <a:t>        </a:t>
            </a:r>
            <a:r>
              <a:rPr lang="ru-RU" sz="1800" i="1" dirty="0"/>
              <a:t>|  </a:t>
            </a:r>
            <a:r>
              <a:rPr lang="en-US" sz="1800" i="1" dirty="0"/>
              <a:t> XXX</a:t>
            </a:r>
            <a:r>
              <a:rPr lang="ru-RU" sz="18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9978559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391</Words>
  <Application>Microsoft Macintosh PowerPoint</Application>
  <PresentationFormat>Широкоэкранный</PresentationFormat>
  <Paragraphs>52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Montserrat</vt:lpstr>
      <vt:lpstr>Calibri</vt:lpstr>
      <vt:lpstr>Шаблон МИФИ</vt:lpstr>
      <vt:lpstr>Презентация PowerPoint</vt:lpstr>
      <vt:lpstr>Задача 1</vt:lpstr>
      <vt:lpstr>Задача 1</vt:lpstr>
      <vt:lpstr>Задача 2</vt:lpstr>
      <vt:lpstr>Задача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Microsoft Office User</cp:lastModifiedBy>
  <cp:revision>91</cp:revision>
  <dcterms:created xsi:type="dcterms:W3CDTF">2020-05-28T16:18:16Z</dcterms:created>
  <dcterms:modified xsi:type="dcterms:W3CDTF">2026-04-06T09:37:48Z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