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4" r:id="rId1"/>
  </p:sldMasterIdLst>
  <p:notesMasterIdLst>
    <p:notesMasterId r:id="rId6"/>
  </p:notesMasterIdLst>
  <p:sldIdLst>
    <p:sldId id="258" r:id="rId2"/>
    <p:sldId id="262" r:id="rId3"/>
    <p:sldId id="266" r:id="rId4"/>
    <p:sldId id="261" r:id="rId5"/>
  </p:sldIdLst>
  <p:sldSz cx="12192000" cy="6858000"/>
  <p:notesSz cx="6858000" cy="9144000"/>
  <p:embeddedFontLst>
    <p:embeddedFont>
      <p:font typeface="Montserrat" panose="00000500000000000000" pitchFamily="2" charset="-52"/>
      <p:regular r:id="rId7"/>
      <p:bold r:id="rId8"/>
      <p:italic r:id="rId9"/>
      <p:boldItalic r:id="rId10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BEE"/>
    <a:srgbClr val="E46C2A"/>
    <a:srgbClr val="FF7300"/>
    <a:srgbClr val="0055BB"/>
    <a:srgbClr val="0061AF"/>
    <a:srgbClr val="8F9092"/>
    <a:srgbClr val="DDDEDE"/>
    <a:srgbClr val="222A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97"/>
  </p:normalViewPr>
  <p:slideViewPr>
    <p:cSldViewPr snapToGrid="0" showGuides="1">
      <p:cViewPr varScale="1">
        <p:scale>
          <a:sx n="105" d="100"/>
          <a:sy n="105" d="100"/>
        </p:scale>
        <p:origin x="798" y="96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F36371-251F-4ED8-9B56-EDA7AD5BC192}" type="datetimeFigureOut">
              <a:rPr lang="ru-RU" smtClean="0"/>
              <a:t>15.02.2026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8B1231-4811-4266-96DE-A5316DE68A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4247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8B1231-4811-4266-96DE-A5316DE68A66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25704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Шапка с атом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780" t="32381" r="-4361" b="40680"/>
          <a:stretch/>
        </p:blipFill>
        <p:spPr>
          <a:xfrm>
            <a:off x="0" y="1269807"/>
            <a:ext cx="982787" cy="1505489"/>
          </a:xfrm>
          <a:prstGeom prst="rect">
            <a:avLst/>
          </a:prstGeom>
        </p:spPr>
      </p:pic>
      <p:sp>
        <p:nvSpPr>
          <p:cNvPr id="6" name="Прямоугольник 5"/>
          <p:cNvSpPr/>
          <p:nvPr userDrawn="1"/>
        </p:nvSpPr>
        <p:spPr bwMode="hidden">
          <a:xfrm>
            <a:off x="-1" y="-1"/>
            <a:ext cx="12192001" cy="1224000"/>
          </a:xfrm>
          <a:prstGeom prst="rect">
            <a:avLst/>
          </a:prstGeom>
          <a:solidFill>
            <a:srgbClr val="0055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055BB"/>
              </a:solidFill>
            </a:endParaRPr>
          </a:p>
        </p:txBody>
      </p:sp>
      <p:pic>
        <p:nvPicPr>
          <p:cNvPr id="8" name="Рисунок 7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3654" b="46857"/>
          <a:stretch/>
        </p:blipFill>
        <p:spPr>
          <a:xfrm>
            <a:off x="8040340" y="-1"/>
            <a:ext cx="4151660" cy="1223999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76" t="1513" r="20843" b="88431"/>
          <a:stretch/>
        </p:blipFill>
        <p:spPr>
          <a:xfrm>
            <a:off x="0" y="6296025"/>
            <a:ext cx="982787" cy="561975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8" t="45097" r="86065" b="31852"/>
          <a:stretch/>
        </p:blipFill>
        <p:spPr>
          <a:xfrm>
            <a:off x="11703437" y="3382263"/>
            <a:ext cx="491219" cy="1288239"/>
          </a:xfrm>
          <a:prstGeom prst="rect">
            <a:avLst/>
          </a:prstGeom>
        </p:spPr>
      </p:pic>
      <p:sp>
        <p:nvSpPr>
          <p:cNvPr id="15" name="Заголовок 14"/>
          <p:cNvSpPr>
            <a:spLocks noGrp="1"/>
          </p:cNvSpPr>
          <p:nvPr>
            <p:ph type="title"/>
          </p:nvPr>
        </p:nvSpPr>
        <p:spPr>
          <a:xfrm>
            <a:off x="559572" y="359101"/>
            <a:ext cx="11081566" cy="523220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chemeClr val="bg1"/>
                </a:solidFill>
                <a:latin typeface="Montserrat" panose="00000500000000000000" pitchFamily="2" charset="-5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20" name="Текст 19"/>
          <p:cNvSpPr>
            <a:spLocks noGrp="1"/>
          </p:cNvSpPr>
          <p:nvPr>
            <p:ph type="body" sz="quarter" idx="10" hasCustomPrompt="1"/>
          </p:nvPr>
        </p:nvSpPr>
        <p:spPr>
          <a:xfrm>
            <a:off x="559572" y="1729294"/>
            <a:ext cx="1348446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chemeClr val="accent2"/>
                </a:solidFill>
                <a:latin typeface="Montserrat" panose="00000500000000000000" pitchFamily="2" charset="-52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 panose="00000500000000000000" pitchFamily="2" charset="-52"/>
              </a:defRPr>
            </a:lvl2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7" name="Текст 26"/>
          <p:cNvSpPr>
            <a:spLocks noGrp="1"/>
          </p:cNvSpPr>
          <p:nvPr>
            <p:ph type="body" sz="quarter" idx="11"/>
          </p:nvPr>
        </p:nvSpPr>
        <p:spPr>
          <a:xfrm>
            <a:off x="559572" y="2409034"/>
            <a:ext cx="1649811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rgbClr val="222A3F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732396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Шапка с логотипом без коня (белая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780" t="32381" r="-4361" b="40680"/>
          <a:stretch/>
        </p:blipFill>
        <p:spPr>
          <a:xfrm>
            <a:off x="0" y="1269807"/>
            <a:ext cx="982787" cy="1505489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76" t="1513" r="20843" b="88431"/>
          <a:stretch/>
        </p:blipFill>
        <p:spPr>
          <a:xfrm>
            <a:off x="0" y="6296025"/>
            <a:ext cx="982787" cy="561975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8" t="45097" r="86065" b="31852"/>
          <a:stretch/>
        </p:blipFill>
        <p:spPr>
          <a:xfrm>
            <a:off x="11703437" y="3382263"/>
            <a:ext cx="491219" cy="1288239"/>
          </a:xfrm>
          <a:prstGeom prst="rect">
            <a:avLst/>
          </a:prstGeom>
        </p:spPr>
      </p:pic>
      <p:sp>
        <p:nvSpPr>
          <p:cNvPr id="15" name="Заголовок 14"/>
          <p:cNvSpPr>
            <a:spLocks noGrp="1"/>
          </p:cNvSpPr>
          <p:nvPr>
            <p:ph type="title"/>
          </p:nvPr>
        </p:nvSpPr>
        <p:spPr>
          <a:xfrm>
            <a:off x="559572" y="359101"/>
            <a:ext cx="9199890" cy="523220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rgbClr val="0055BB"/>
                </a:solidFill>
                <a:latin typeface="Montserrat" panose="00000500000000000000" pitchFamily="2" charset="-5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11" name="Рисунок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5138" y="170399"/>
            <a:ext cx="1656000" cy="883200"/>
          </a:xfrm>
          <a:prstGeom prst="rect">
            <a:avLst/>
          </a:prstGeom>
        </p:spPr>
      </p:pic>
      <p:sp>
        <p:nvSpPr>
          <p:cNvPr id="14" name="Текст 19"/>
          <p:cNvSpPr>
            <a:spLocks noGrp="1"/>
          </p:cNvSpPr>
          <p:nvPr>
            <p:ph type="body" sz="quarter" idx="10" hasCustomPrompt="1"/>
          </p:nvPr>
        </p:nvSpPr>
        <p:spPr>
          <a:xfrm>
            <a:off x="559572" y="1729294"/>
            <a:ext cx="1348446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rgbClr val="00BBEE"/>
                </a:solidFill>
                <a:latin typeface="Montserrat" panose="00000500000000000000" pitchFamily="2" charset="-52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 panose="00000500000000000000" pitchFamily="2" charset="-52"/>
              </a:defRPr>
            </a:lvl2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26"/>
          <p:cNvSpPr>
            <a:spLocks noGrp="1"/>
          </p:cNvSpPr>
          <p:nvPr>
            <p:ph type="body" sz="quarter" idx="11"/>
          </p:nvPr>
        </p:nvSpPr>
        <p:spPr>
          <a:xfrm>
            <a:off x="559572" y="2409034"/>
            <a:ext cx="1649811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rgbClr val="222A3F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5D4A470-D186-460E-BFFA-A336BBB6414C}"/>
              </a:ext>
            </a:extLst>
          </p:cNvPr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4437687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Шапка с логотипом без коня (синяя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/>
          <p:cNvSpPr/>
          <p:nvPr userDrawn="1"/>
        </p:nvSpPr>
        <p:spPr bwMode="hidden">
          <a:xfrm>
            <a:off x="-1" y="-1"/>
            <a:ext cx="12192001" cy="1224000"/>
          </a:xfrm>
          <a:prstGeom prst="rect">
            <a:avLst/>
          </a:prstGeom>
          <a:solidFill>
            <a:srgbClr val="0055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pic>
        <p:nvPicPr>
          <p:cNvPr id="17" name="Рисунок 1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2762" y="170399"/>
            <a:ext cx="1656000" cy="88320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780" t="32381" r="-4361" b="40680"/>
          <a:stretch/>
        </p:blipFill>
        <p:spPr>
          <a:xfrm>
            <a:off x="0" y="1269807"/>
            <a:ext cx="982787" cy="1505489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76" t="1513" r="20843" b="88431"/>
          <a:stretch/>
        </p:blipFill>
        <p:spPr>
          <a:xfrm>
            <a:off x="0" y="6296025"/>
            <a:ext cx="982787" cy="561975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8" t="45097" r="86065" b="31852"/>
          <a:stretch/>
        </p:blipFill>
        <p:spPr>
          <a:xfrm>
            <a:off x="11703437" y="3382263"/>
            <a:ext cx="491219" cy="1288239"/>
          </a:xfrm>
          <a:prstGeom prst="rect">
            <a:avLst/>
          </a:prstGeom>
        </p:spPr>
      </p:pic>
      <p:sp>
        <p:nvSpPr>
          <p:cNvPr id="15" name="Заголовок 14"/>
          <p:cNvSpPr>
            <a:spLocks noGrp="1"/>
          </p:cNvSpPr>
          <p:nvPr>
            <p:ph type="title"/>
          </p:nvPr>
        </p:nvSpPr>
        <p:spPr>
          <a:xfrm>
            <a:off x="559572" y="359101"/>
            <a:ext cx="9173513" cy="523220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chemeClr val="bg1"/>
                </a:solidFill>
                <a:latin typeface="Montserrat" panose="00000500000000000000" pitchFamily="2" charset="-5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4" name="Текст 19"/>
          <p:cNvSpPr>
            <a:spLocks noGrp="1"/>
          </p:cNvSpPr>
          <p:nvPr>
            <p:ph type="body" sz="quarter" idx="10" hasCustomPrompt="1"/>
          </p:nvPr>
        </p:nvSpPr>
        <p:spPr>
          <a:xfrm>
            <a:off x="559572" y="1729294"/>
            <a:ext cx="1348446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rgbClr val="00BBEE"/>
                </a:solidFill>
                <a:latin typeface="Montserrat" panose="00000500000000000000" pitchFamily="2" charset="-52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 panose="00000500000000000000" pitchFamily="2" charset="-52"/>
              </a:defRPr>
            </a:lvl2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26"/>
          <p:cNvSpPr>
            <a:spLocks noGrp="1"/>
          </p:cNvSpPr>
          <p:nvPr>
            <p:ph type="body" sz="quarter" idx="11"/>
          </p:nvPr>
        </p:nvSpPr>
        <p:spPr>
          <a:xfrm>
            <a:off x="559572" y="2409034"/>
            <a:ext cx="1649811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rgbClr val="222A3F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843DE57E-711D-404D-B188-192C4B659303}"/>
              </a:ext>
            </a:extLst>
          </p:cNvPr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446839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Шапка с логотипом коня (белая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780" t="32381" r="-4361" b="40680"/>
          <a:stretch/>
        </p:blipFill>
        <p:spPr>
          <a:xfrm>
            <a:off x="0" y="1269807"/>
            <a:ext cx="982787" cy="1505489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76" t="1513" r="20843" b="88431"/>
          <a:stretch/>
        </p:blipFill>
        <p:spPr>
          <a:xfrm>
            <a:off x="0" y="6296025"/>
            <a:ext cx="982787" cy="561975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8" t="45097" r="86065" b="31852"/>
          <a:stretch/>
        </p:blipFill>
        <p:spPr>
          <a:xfrm>
            <a:off x="11703437" y="3382263"/>
            <a:ext cx="491219" cy="1288239"/>
          </a:xfrm>
          <a:prstGeom prst="rect">
            <a:avLst/>
          </a:prstGeom>
        </p:spPr>
      </p:pic>
      <p:sp>
        <p:nvSpPr>
          <p:cNvPr id="15" name="Заголовок 14"/>
          <p:cNvSpPr>
            <a:spLocks noGrp="1"/>
          </p:cNvSpPr>
          <p:nvPr>
            <p:ph type="title"/>
          </p:nvPr>
        </p:nvSpPr>
        <p:spPr>
          <a:xfrm>
            <a:off x="559572" y="359101"/>
            <a:ext cx="8900951" cy="523220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>
              <a:lnSpc>
                <a:spcPct val="100000"/>
              </a:lnSpc>
              <a:defRPr lang="ru-RU" sz="2800" b="1" kern="1200" dirty="0">
                <a:solidFill>
                  <a:srgbClr val="E46C2A"/>
                </a:solidFill>
                <a:latin typeface="Montserrat" panose="00000500000000000000" pitchFamily="2" charset="-52"/>
                <a:ea typeface="+mj-ea"/>
                <a:cs typeface="+mj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4" name="Текст 19"/>
          <p:cNvSpPr>
            <a:spLocks noGrp="1"/>
          </p:cNvSpPr>
          <p:nvPr>
            <p:ph type="body" sz="quarter" idx="10" hasCustomPrompt="1"/>
          </p:nvPr>
        </p:nvSpPr>
        <p:spPr>
          <a:xfrm>
            <a:off x="559572" y="1729294"/>
            <a:ext cx="1348446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rgbClr val="00BBEE"/>
                </a:solidFill>
                <a:latin typeface="Montserrat" panose="00000500000000000000" pitchFamily="2" charset="-52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 panose="00000500000000000000" pitchFamily="2" charset="-52"/>
              </a:defRPr>
            </a:lvl2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26"/>
          <p:cNvSpPr>
            <a:spLocks noGrp="1"/>
          </p:cNvSpPr>
          <p:nvPr>
            <p:ph type="body" sz="quarter" idx="11"/>
          </p:nvPr>
        </p:nvSpPr>
        <p:spPr>
          <a:xfrm>
            <a:off x="559572" y="2409034"/>
            <a:ext cx="1649811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rgbClr val="222A3F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956" y="-135287"/>
            <a:ext cx="2376074" cy="1512000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F00D0962-6951-42C9-AAB7-A8419B4562CD}"/>
              </a:ext>
            </a:extLst>
          </p:cNvPr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9468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Шапка с логотипом коня (серая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/>
          <p:cNvSpPr/>
          <p:nvPr userDrawn="1"/>
        </p:nvSpPr>
        <p:spPr bwMode="hidden">
          <a:xfrm>
            <a:off x="-1" y="-1"/>
            <a:ext cx="12192001" cy="1224000"/>
          </a:xfrm>
          <a:prstGeom prst="rect">
            <a:avLst/>
          </a:prstGeom>
          <a:solidFill>
            <a:srgbClr val="DDDE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780" t="32381" r="-4361" b="40680"/>
          <a:stretch/>
        </p:blipFill>
        <p:spPr>
          <a:xfrm>
            <a:off x="0" y="1269807"/>
            <a:ext cx="982787" cy="1505489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76" t="1513" r="20843" b="88431"/>
          <a:stretch/>
        </p:blipFill>
        <p:spPr>
          <a:xfrm>
            <a:off x="0" y="6296025"/>
            <a:ext cx="982787" cy="561975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8" t="45097" r="86065" b="31852"/>
          <a:stretch/>
        </p:blipFill>
        <p:spPr>
          <a:xfrm>
            <a:off x="11703437" y="3382263"/>
            <a:ext cx="491219" cy="1288239"/>
          </a:xfrm>
          <a:prstGeom prst="rect">
            <a:avLst/>
          </a:prstGeom>
        </p:spPr>
      </p:pic>
      <p:sp>
        <p:nvSpPr>
          <p:cNvPr id="15" name="Заголовок 14"/>
          <p:cNvSpPr>
            <a:spLocks noGrp="1"/>
          </p:cNvSpPr>
          <p:nvPr>
            <p:ph type="title"/>
          </p:nvPr>
        </p:nvSpPr>
        <p:spPr>
          <a:xfrm>
            <a:off x="559572" y="359101"/>
            <a:ext cx="9032836" cy="523220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>
              <a:lnSpc>
                <a:spcPct val="100000"/>
              </a:lnSpc>
              <a:defRPr lang="ru-RU" sz="2800" b="1" kern="1200" dirty="0">
                <a:solidFill>
                  <a:srgbClr val="0055BB"/>
                </a:solidFill>
                <a:latin typeface="Montserrat" panose="00000500000000000000" pitchFamily="2" charset="-52"/>
                <a:ea typeface="+mj-ea"/>
                <a:cs typeface="+mj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4" name="Текст 19"/>
          <p:cNvSpPr>
            <a:spLocks noGrp="1"/>
          </p:cNvSpPr>
          <p:nvPr>
            <p:ph type="body" sz="quarter" idx="10" hasCustomPrompt="1"/>
          </p:nvPr>
        </p:nvSpPr>
        <p:spPr>
          <a:xfrm>
            <a:off x="559572" y="1729294"/>
            <a:ext cx="1348446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rgbClr val="00BBEE"/>
                </a:solidFill>
                <a:latin typeface="Montserrat" panose="00000500000000000000" pitchFamily="2" charset="-52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 panose="00000500000000000000" pitchFamily="2" charset="-52"/>
              </a:defRPr>
            </a:lvl2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26"/>
          <p:cNvSpPr>
            <a:spLocks noGrp="1"/>
          </p:cNvSpPr>
          <p:nvPr>
            <p:ph type="body" sz="quarter" idx="11"/>
          </p:nvPr>
        </p:nvSpPr>
        <p:spPr>
          <a:xfrm>
            <a:off x="559572" y="2409034"/>
            <a:ext cx="1649811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rgbClr val="222A3F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pic>
        <p:nvPicPr>
          <p:cNvPr id="3" name="Рисунок 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>
            <a:off x="9525956" y="-144001"/>
            <a:ext cx="2376074" cy="1512000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12077ADA-551A-4656-A047-B811D4148796}"/>
              </a:ext>
            </a:extLst>
          </p:cNvPr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6757290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Титульный слайд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425" y="2898000"/>
            <a:ext cx="4752575" cy="396000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194" y="558606"/>
            <a:ext cx="2484000" cy="1656000"/>
          </a:xfrm>
          <a:prstGeom prst="rect">
            <a:avLst/>
          </a:prstGeom>
        </p:spPr>
      </p:pic>
      <p:sp>
        <p:nvSpPr>
          <p:cNvPr id="6" name="Текст 26"/>
          <p:cNvSpPr>
            <a:spLocks noGrp="1"/>
          </p:cNvSpPr>
          <p:nvPr>
            <p:ph type="body" sz="quarter" idx="11" hasCustomPrompt="1"/>
          </p:nvPr>
        </p:nvSpPr>
        <p:spPr>
          <a:xfrm>
            <a:off x="560194" y="6083856"/>
            <a:ext cx="1649811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01.01.2010</a:t>
            </a:r>
          </a:p>
        </p:txBody>
      </p:sp>
      <p:sp>
        <p:nvSpPr>
          <p:cNvPr id="7" name="Текст 26"/>
          <p:cNvSpPr>
            <a:spLocks noGrp="1"/>
          </p:cNvSpPr>
          <p:nvPr>
            <p:ph type="body" sz="quarter" idx="12" hasCustomPrompt="1"/>
          </p:nvPr>
        </p:nvSpPr>
        <p:spPr>
          <a:xfrm>
            <a:off x="560194" y="2567225"/>
            <a:ext cx="2694755" cy="46166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8" name="Текст 26"/>
          <p:cNvSpPr>
            <a:spLocks noGrp="1"/>
          </p:cNvSpPr>
          <p:nvPr>
            <p:ph type="body" sz="quarter" idx="13" hasCustomPrompt="1"/>
          </p:nvPr>
        </p:nvSpPr>
        <p:spPr>
          <a:xfrm>
            <a:off x="560194" y="3198167"/>
            <a:ext cx="2936041" cy="6463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3600" b="1">
                <a:solidFill>
                  <a:srgbClr val="0055BB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1027023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екст 26"/>
          <p:cNvSpPr>
            <a:spLocks noGrp="1"/>
          </p:cNvSpPr>
          <p:nvPr>
            <p:ph type="body" sz="quarter" idx="11" hasCustomPrompt="1"/>
          </p:nvPr>
        </p:nvSpPr>
        <p:spPr>
          <a:xfrm>
            <a:off x="6418217" y="6083856"/>
            <a:ext cx="1649811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01.01.2010</a:t>
            </a:r>
          </a:p>
        </p:txBody>
      </p:sp>
      <p:sp>
        <p:nvSpPr>
          <p:cNvPr id="7" name="Текст 26"/>
          <p:cNvSpPr>
            <a:spLocks noGrp="1"/>
          </p:cNvSpPr>
          <p:nvPr>
            <p:ph type="body" sz="quarter" idx="12" hasCustomPrompt="1"/>
          </p:nvPr>
        </p:nvSpPr>
        <p:spPr>
          <a:xfrm>
            <a:off x="6418217" y="2567225"/>
            <a:ext cx="2694755" cy="46166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8" name="Текст 26"/>
          <p:cNvSpPr>
            <a:spLocks noGrp="1"/>
          </p:cNvSpPr>
          <p:nvPr>
            <p:ph type="body" sz="quarter" idx="13" hasCustomPrompt="1"/>
          </p:nvPr>
        </p:nvSpPr>
        <p:spPr>
          <a:xfrm>
            <a:off x="6418217" y="3198167"/>
            <a:ext cx="2936041" cy="6463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3600" b="1">
                <a:solidFill>
                  <a:srgbClr val="0055BB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69250"/>
            <a:ext cx="5886994" cy="4088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1018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лючите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425" y="2898000"/>
            <a:ext cx="4752575" cy="3960000"/>
          </a:xfrm>
          <a:prstGeom prst="rect">
            <a:avLst/>
          </a:prstGeom>
        </p:spPr>
      </p:pic>
      <p:sp>
        <p:nvSpPr>
          <p:cNvPr id="7" name="Текст 26"/>
          <p:cNvSpPr>
            <a:spLocks noGrp="1"/>
          </p:cNvSpPr>
          <p:nvPr>
            <p:ph type="body" sz="quarter" idx="13" hasCustomPrompt="1"/>
          </p:nvPr>
        </p:nvSpPr>
        <p:spPr>
          <a:xfrm>
            <a:off x="560194" y="3105834"/>
            <a:ext cx="2936041" cy="6463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3600" b="1">
                <a:solidFill>
                  <a:srgbClr val="0055BB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9797557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40566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7" r:id="rId2"/>
    <p:sldLayoutId id="2147483678" r:id="rId3"/>
    <p:sldLayoutId id="2147483679" r:id="rId4"/>
    <p:sldLayoutId id="2147483680" r:id="rId5"/>
    <p:sldLayoutId id="2147483675" r:id="rId6"/>
    <p:sldLayoutId id="2147483682" r:id="rId7"/>
    <p:sldLayoutId id="2147483681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391" userDrawn="1">
          <p15:clr>
            <a:srgbClr val="F26B43"/>
          </p15:clr>
        </p15:guide>
        <p15:guide id="4" orient="horz" pos="4065" userDrawn="1">
          <p15:clr>
            <a:srgbClr val="F26B43"/>
          </p15:clr>
        </p15:guide>
        <p15:guide id="5" pos="347" userDrawn="1">
          <p15:clr>
            <a:srgbClr val="F26B43"/>
          </p15:clr>
        </p15:guide>
        <p15:guide id="6" pos="733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Текст 10"/>
          <p:cNvSpPr>
            <a:spLocks noGrp="1"/>
          </p:cNvSpPr>
          <p:nvPr>
            <p:ph type="body" sz="quarter" idx="11"/>
          </p:nvPr>
        </p:nvSpPr>
        <p:spPr>
          <a:xfrm>
            <a:off x="5340011" y="6291675"/>
            <a:ext cx="1649811" cy="369332"/>
          </a:xfrm>
        </p:spPr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202</a:t>
            </a:r>
            <a:r>
              <a:rPr lang="en-US">
                <a:solidFill>
                  <a:schemeClr val="tx1"/>
                </a:solidFill>
              </a:rPr>
              <a:t>6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3" name="Текст 12"/>
          <p:cNvSpPr>
            <a:spLocks noGrp="1"/>
          </p:cNvSpPr>
          <p:nvPr>
            <p:ph type="body" sz="quarter" idx="13"/>
          </p:nvPr>
        </p:nvSpPr>
        <p:spPr>
          <a:xfrm>
            <a:off x="727364" y="2924814"/>
            <a:ext cx="10737272" cy="769441"/>
          </a:xfrm>
        </p:spPr>
        <p:txBody>
          <a:bodyPr/>
          <a:lstStyle/>
          <a:p>
            <a:pPr algn="ctr"/>
            <a:r>
              <a:rPr lang="ru-RU" sz="4400" dirty="0"/>
              <a:t>Лабораторная работа 8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7336" y="681629"/>
            <a:ext cx="1904264" cy="1403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2927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D6C0D-293F-62EB-07F5-A9033E14C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17180A-B249-07FA-A11A-925259915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 </a:t>
            </a:r>
            <a:r>
              <a:rPr lang="en-US" dirty="0"/>
              <a:t>1</a:t>
            </a:r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95A20CA-60C3-A8BF-16D0-7F610C35D0A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9572" y="982176"/>
            <a:ext cx="10976256" cy="5970865"/>
          </a:xfrm>
        </p:spPr>
        <p:txBody>
          <a:bodyPr/>
          <a:lstStyle/>
          <a:p>
            <a:pPr algn="l"/>
            <a:r>
              <a:rPr lang="ru-RU" sz="2000" dirty="0"/>
              <a:t>Реализуйте бинарное дерево (не BST) с поддержкой следующих операций:</a:t>
            </a:r>
          </a:p>
          <a:p>
            <a:pPr algn="l"/>
            <a:r>
              <a:rPr lang="ru-RU" sz="2000" dirty="0"/>
              <a:t>1. Поиск наименьшего общего предка (LCA) для двух узлов.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dirty="0"/>
              <a:t>Узлы не имеют ссылок на родителей.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dirty="0"/>
              <a:t>Решение должно работать за O(n), где n — количество узлов.</a:t>
            </a:r>
          </a:p>
          <a:p>
            <a:pPr algn="l"/>
            <a:r>
              <a:rPr lang="ru-RU" sz="2000" dirty="0"/>
              <a:t>2. Зеркальное отображение дерева (инвертирование левого и правого поддеревьев для каждого узла).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dirty="0"/>
              <a:t>Требуется </a:t>
            </a:r>
            <a:r>
              <a:rPr lang="ru-RU" sz="2000" dirty="0" err="1"/>
              <a:t>in-place</a:t>
            </a:r>
            <a:r>
              <a:rPr lang="ru-RU" sz="2000" dirty="0"/>
              <a:t> модификация исходного дерева.</a:t>
            </a:r>
          </a:p>
          <a:p>
            <a:pPr algn="l"/>
            <a:r>
              <a:rPr lang="ru-RU" sz="2000" dirty="0"/>
              <a:t>3. Подсчёт расстояния между двумя узлами (количество ребер на пути от одного узла к другому).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dirty="0"/>
              <a:t>Решение должно использовать LCA для оптимизации.</a:t>
            </a:r>
          </a:p>
          <a:p>
            <a:pPr algn="l"/>
            <a:r>
              <a:rPr lang="ru-RU" i="1" dirty="0"/>
              <a:t>*Для наглядности можно использовать метод вывода дерева на экран:</a:t>
            </a:r>
          </a:p>
          <a:p>
            <a:pPr algn="l"/>
            <a:r>
              <a:rPr lang="en-US" i="1" dirty="0"/>
              <a:t>def </a:t>
            </a:r>
            <a:r>
              <a:rPr lang="en-US" i="1" dirty="0" err="1"/>
              <a:t>print_tree</a:t>
            </a:r>
            <a:r>
              <a:rPr lang="en-US" i="1" dirty="0"/>
              <a:t>(node, prefix="", </a:t>
            </a:r>
            <a:r>
              <a:rPr lang="en-US" i="1" dirty="0" err="1"/>
              <a:t>is_left</a:t>
            </a:r>
            <a:r>
              <a:rPr lang="en-US" i="1" dirty="0"/>
              <a:t>=True):</a:t>
            </a:r>
          </a:p>
          <a:p>
            <a:pPr algn="l"/>
            <a:r>
              <a:rPr lang="en-US" i="1" dirty="0"/>
              <a:t>    """</a:t>
            </a:r>
            <a:r>
              <a:rPr lang="ru-RU" i="1" dirty="0"/>
              <a:t>Красивый вывод бинарного дерева в консоль."""</a:t>
            </a:r>
          </a:p>
          <a:p>
            <a:pPr algn="l"/>
            <a:r>
              <a:rPr lang="ru-RU" i="1" dirty="0"/>
              <a:t>    </a:t>
            </a:r>
            <a:r>
              <a:rPr lang="en-US" i="1" dirty="0"/>
              <a:t>if node is not None:</a:t>
            </a:r>
          </a:p>
          <a:p>
            <a:pPr algn="l"/>
            <a:r>
              <a:rPr lang="en-US" i="1" dirty="0"/>
              <a:t>        </a:t>
            </a:r>
            <a:r>
              <a:rPr lang="en-US" i="1" dirty="0" err="1"/>
              <a:t>print_tree</a:t>
            </a:r>
            <a:r>
              <a:rPr lang="en-US" i="1" dirty="0"/>
              <a:t>(</a:t>
            </a:r>
            <a:r>
              <a:rPr lang="en-US" i="1" dirty="0" err="1"/>
              <a:t>node.right</a:t>
            </a:r>
            <a:r>
              <a:rPr lang="en-US" i="1" dirty="0"/>
              <a:t>, prefix + ("│   " if </a:t>
            </a:r>
            <a:r>
              <a:rPr lang="en-US" i="1" dirty="0" err="1"/>
              <a:t>is_left</a:t>
            </a:r>
            <a:r>
              <a:rPr lang="en-US" i="1" dirty="0"/>
              <a:t> else "    "), False)</a:t>
            </a:r>
          </a:p>
          <a:p>
            <a:pPr algn="l"/>
            <a:r>
              <a:rPr lang="en-US" i="1" dirty="0"/>
              <a:t>        print(prefix + ("└── " if </a:t>
            </a:r>
            <a:r>
              <a:rPr lang="en-US" i="1" dirty="0" err="1"/>
              <a:t>is_left</a:t>
            </a:r>
            <a:r>
              <a:rPr lang="en-US" i="1" dirty="0"/>
              <a:t> else "┌── ") + str(</a:t>
            </a:r>
            <a:r>
              <a:rPr lang="en-US" i="1" dirty="0" err="1"/>
              <a:t>node.val</a:t>
            </a:r>
            <a:r>
              <a:rPr lang="en-US" i="1" dirty="0"/>
              <a:t>))</a:t>
            </a:r>
          </a:p>
          <a:p>
            <a:pPr algn="l"/>
            <a:r>
              <a:rPr lang="en-US" i="1" dirty="0"/>
              <a:t>        </a:t>
            </a:r>
            <a:r>
              <a:rPr lang="en-US" i="1" dirty="0" err="1"/>
              <a:t>print_tree</a:t>
            </a:r>
            <a:r>
              <a:rPr lang="en-US" i="1" dirty="0"/>
              <a:t>(</a:t>
            </a:r>
            <a:r>
              <a:rPr lang="en-US" i="1" dirty="0" err="1"/>
              <a:t>node.left</a:t>
            </a:r>
            <a:r>
              <a:rPr lang="en-US" i="1" dirty="0"/>
              <a:t>, prefix + ("    " if </a:t>
            </a:r>
            <a:r>
              <a:rPr lang="en-US" i="1" dirty="0" err="1"/>
              <a:t>is_left</a:t>
            </a:r>
            <a:r>
              <a:rPr lang="en-US" i="1" dirty="0"/>
              <a:t> else "│   "), True)</a:t>
            </a:r>
          </a:p>
        </p:txBody>
      </p:sp>
    </p:spTree>
    <p:extLst>
      <p:ext uri="{BB962C8B-B14F-4D97-AF65-F5344CB8AC3E}">
        <p14:creationId xmlns:p14="http://schemas.microsoft.com/office/powerpoint/2010/main" val="1905816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BB1265-7A1E-7E39-D513-4E1FB516F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3F3F78-7143-D147-0FA3-393375F4C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 2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279D440-1ED9-C384-0B43-E88224D6A40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9572" y="882321"/>
            <a:ext cx="10976256" cy="707886"/>
          </a:xfrm>
        </p:spPr>
        <p:txBody>
          <a:bodyPr/>
          <a:lstStyle/>
          <a:p>
            <a:pPr algn="l">
              <a:spcAft>
                <a:spcPts val="0"/>
              </a:spcAft>
            </a:pPr>
            <a:r>
              <a:rPr lang="ru-RU" sz="2000" dirty="0">
                <a:effectLst/>
              </a:rPr>
              <a:t>Дополнить задание 2 из ЛР 7 пирамидальной сортировкой. Сравнить результаты.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3970988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C8A50A-53CD-4E60-A18D-C406CF898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 3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5984CBB-0DCC-4620-A4B0-8447C78414A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9572" y="982176"/>
            <a:ext cx="10976256" cy="1938992"/>
          </a:xfrm>
        </p:spPr>
        <p:txBody>
          <a:bodyPr/>
          <a:lstStyle/>
          <a:p>
            <a:pPr algn="l">
              <a:spcAft>
                <a:spcPts val="0"/>
              </a:spcAft>
            </a:pPr>
            <a:r>
              <a:rPr lang="ru-RU" sz="2000" b="0" i="0" dirty="0">
                <a:effectLst/>
              </a:rPr>
              <a:t>Дано K отсортированных массивов. Объедините их в один отсортированный массив, используя пирамидальную сортировку.</a:t>
            </a:r>
          </a:p>
          <a:p>
            <a:pPr algn="l">
              <a:spcAft>
                <a:spcPts val="0"/>
              </a:spcAft>
            </a:pPr>
            <a:r>
              <a:rPr lang="ru-RU" sz="2000" b="0" i="0" dirty="0">
                <a:effectLst/>
              </a:rPr>
              <a:t>Реализуйте </a:t>
            </a:r>
            <a:r>
              <a:rPr lang="ru-RU" sz="2000" b="0" i="0" dirty="0" err="1">
                <a:effectLst/>
              </a:rPr>
              <a:t>min-heap</a:t>
            </a:r>
            <a:r>
              <a:rPr lang="ru-RU" sz="2000" b="0" i="0" dirty="0">
                <a:effectLst/>
              </a:rPr>
              <a:t> для выбора минимального элемента из текущих вершин всех K массивов.</a:t>
            </a:r>
          </a:p>
          <a:p>
            <a:pPr algn="l">
              <a:spcAft>
                <a:spcPts val="0"/>
              </a:spcAft>
            </a:pPr>
            <a:r>
              <a:rPr lang="ru-RU" sz="2000" b="0" i="0" dirty="0">
                <a:effectLst/>
              </a:rPr>
              <a:t>Оптимизируйте алгоритм для работы за O(N </a:t>
            </a:r>
            <a:r>
              <a:rPr lang="ru-RU" sz="2000" b="0" i="0" dirty="0" err="1">
                <a:effectLst/>
              </a:rPr>
              <a:t>log</a:t>
            </a:r>
            <a:r>
              <a:rPr lang="ru-RU" sz="2000" b="0" i="0" dirty="0">
                <a:effectLst/>
              </a:rPr>
              <a:t> K), где N — общее количество элементов.</a:t>
            </a:r>
            <a:endParaRPr lang="ru-RU" sz="2000" i="1" dirty="0"/>
          </a:p>
        </p:txBody>
      </p:sp>
    </p:spTree>
    <p:extLst>
      <p:ext uri="{BB962C8B-B14F-4D97-AF65-F5344CB8AC3E}">
        <p14:creationId xmlns:p14="http://schemas.microsoft.com/office/powerpoint/2010/main" val="4095830057"/>
      </p:ext>
    </p:extLst>
  </p:cSld>
  <p:clrMapOvr>
    <a:masterClrMapping/>
  </p:clrMapOvr>
</p:sld>
</file>

<file path=ppt/theme/theme1.xml><?xml version="1.0" encoding="utf-8"?>
<a:theme xmlns:a="http://schemas.openxmlformats.org/drawingml/2006/main" name="Шаблон МИФИ">
  <a:themeElements>
    <a:clrScheme name="Другая 7">
      <a:dk1>
        <a:srgbClr val="171616"/>
      </a:dk1>
      <a:lt1>
        <a:srgbClr val="FFFFFF"/>
      </a:lt1>
      <a:dk2>
        <a:srgbClr val="0055BB"/>
      </a:dk2>
      <a:lt2>
        <a:srgbClr val="E2E2E2"/>
      </a:lt2>
      <a:accent1>
        <a:srgbClr val="0055BB"/>
      </a:accent1>
      <a:accent2>
        <a:srgbClr val="00BBEE"/>
      </a:accent2>
      <a:accent3>
        <a:srgbClr val="FF5000"/>
      </a:accent3>
      <a:accent4>
        <a:srgbClr val="00B050"/>
      </a:accent4>
      <a:accent5>
        <a:srgbClr val="00FFCC"/>
      </a:accent5>
      <a:accent6>
        <a:srgbClr val="FF66CC"/>
      </a:accent6>
      <a:hlink>
        <a:srgbClr val="00BBEE"/>
      </a:hlink>
      <a:folHlink>
        <a:srgbClr val="FFAE89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2800" b="1" dirty="0" smtClean="0">
            <a:solidFill>
              <a:schemeClr val="bg1"/>
            </a:solidFill>
            <a:latin typeface="Montserrat" panose="00000500000000000000" pitchFamily="2" charset="-5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2336</TotalTime>
  <Words>274</Words>
  <Application>Microsoft Office PowerPoint</Application>
  <PresentationFormat>Широкоэкранный</PresentationFormat>
  <Paragraphs>25</Paragraphs>
  <Slides>4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8" baseType="lpstr">
      <vt:lpstr>Montserrat</vt:lpstr>
      <vt:lpstr>Arial</vt:lpstr>
      <vt:lpstr>Calibri</vt:lpstr>
      <vt:lpstr>Шаблон МИФИ</vt:lpstr>
      <vt:lpstr>Презентация PowerPoint</vt:lpstr>
      <vt:lpstr>Задача 1</vt:lpstr>
      <vt:lpstr>Задача 2</vt:lpstr>
      <vt:lpstr>Задача 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Влад Замахаев</dc:creator>
  <cp:lastModifiedBy>Владимир Волков</cp:lastModifiedBy>
  <cp:revision>99</cp:revision>
  <dcterms:created xsi:type="dcterms:W3CDTF">2020-05-28T16:18:16Z</dcterms:created>
  <dcterms:modified xsi:type="dcterms:W3CDTF">2026-02-15T17:14:05Z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fs.IsStoryboard">
    <vt:bool>true</vt:bool>
  </property>
</Properties>
</file>